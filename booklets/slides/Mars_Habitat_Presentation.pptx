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Segoe UI Light"/>
              </a:defRPr>
            </a:pPr>
            <a:r>
              <a:t>Mars Habitat Automation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A0B0"/>
                </a:solidFill>
                <a:latin typeface="Segoe UI"/>
              </a:defRPr>
            </a:pPr>
            <a:r>
              <a:t>A Distributed Event-Driven System for Habitat Monitoring &amp;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931920"/>
            <a:ext cx="2103120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0A0B0"/>
                </a:solidFill>
                <a:latin typeface="Segoe UI"/>
              </a:defRPr>
            </a:pPr>
            <a:r>
              <a:t>Deda Daniel  •  Macrì Francesco  •  Pagliarini Paolo  •  Torresi Flavio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2024/2025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Segoe UI"/>
              </a:defRPr>
            </a:pPr>
            <a: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73152" cy="5486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4FF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8288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Segoe UI"/>
              </a:defRPr>
            </a:pPr>
            <a:r>
              <a:t>Project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4FF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Segoe UI"/>
              </a:defRPr>
            </a:pPr>
            <a:r>
              <a:t>System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4FF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108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Segoe UI"/>
              </a:defRPr>
            </a:pPr>
            <a:r>
              <a:t>Microservices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4904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4FF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7490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Segoe UI"/>
              </a:defRPr>
            </a:pPr>
            <a:r>
              <a:t>Frontend Application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8912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4FF"/>
                </a:solidFill>
                <a:latin typeface="Segoe UI"/>
              </a:defRPr>
            </a:pPr>
            <a: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3891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Segoe UI"/>
              </a:defRPr>
            </a:pPr>
            <a:r>
              <a:t>Database &amp; Data 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0292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4FF"/>
                </a:solidFill>
                <a:latin typeface="Segoe UI"/>
              </a:defRPr>
            </a:pPr>
            <a: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5029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6692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4FF"/>
                </a:solidFill>
                <a:latin typeface="Segoe UI"/>
              </a:defRPr>
            </a:pPr>
            <a:r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6692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Segoe UI"/>
              </a:defRPr>
            </a:pPr>
            <a:r>
              <a:t>Conclusions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Segoe UI"/>
              </a:defRPr>
            </a:pPr>
            <a:r>
              <a:t>Project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73152" cy="5486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Segoe UI"/>
              </a:defRPr>
            </a:pPr>
            <a:r>
              <a:t>A distributed event-driven system designed to monitor and control a Mars habitat's critical infrastructure.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3337560"/>
            <a:ext cx="109728" cy="109728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200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A0A0B0"/>
                </a:solidFill>
                <a:latin typeface="Segoe UI"/>
              </a:defRPr>
            </a:pPr>
            <a:r>
              <a:t>Ingests heterogeneous sensor data from simulated IoT environment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3886200"/>
            <a:ext cx="109728" cy="109728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749039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A0A0B0"/>
                </a:solidFill>
                <a:latin typeface="Segoe UI"/>
              </a:defRPr>
            </a:pPr>
            <a:r>
              <a:t>REST-polled sensors + streaming telemetry via SSE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4434840"/>
            <a:ext cx="109728" cy="109728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297679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A0A0B0"/>
                </a:solidFill>
                <a:latin typeface="Segoe UI"/>
              </a:defRPr>
            </a:pPr>
            <a:r>
              <a:t>Normalizes all payloads into unified internal event format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4983479"/>
            <a:ext cx="109728" cy="109728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846319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A0A0B0"/>
                </a:solidFill>
                <a:latin typeface="Segoe UI"/>
              </a:defRPr>
            </a:pPr>
            <a:r>
              <a:t>Evaluates automation rules in real-time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5532119"/>
            <a:ext cx="109728" cy="109728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394959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A0A0B0"/>
                </a:solidFill>
                <a:latin typeface="Segoe UI"/>
              </a:defRPr>
            </a:pPr>
            <a:r>
              <a:t>Exposes reactive dashboard for habitat monitoring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73152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14575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Segoe UI"/>
              </a:defRPr>
            </a:pPr>
            <a:r>
              <a:t>Key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73152" cy="5486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200400" cy="2011680"/>
          </a:xfrm>
          <a:prstGeom prst="roundRect">
            <a:avLst/>
          </a:prstGeom>
          <a:solidFill>
            <a:srgbClr val="1A1A2E"/>
          </a:solidFill>
          <a:ln>
            <a:solidFill>
              <a:srgbClr val="30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103120"/>
            <a:ext cx="137160" cy="1371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0116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Real-time Monitoring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6032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Live sensor data updates</a:t>
            </a:r>
            <a:br/>
            <a:r>
              <a:t>without page refresh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1828800"/>
            <a:ext cx="3200400" cy="2011680"/>
          </a:xfrm>
          <a:prstGeom prst="roundRect">
            <a:avLst/>
          </a:prstGeom>
          <a:solidFill>
            <a:srgbClr val="1A1A2E"/>
          </a:solidFill>
          <a:ln>
            <a:solidFill>
              <a:srgbClr val="30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89120" y="2103120"/>
            <a:ext cx="137160" cy="1371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0116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Automation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56032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IF-THEN rules for automatic</a:t>
            </a:r>
            <a:br/>
            <a:r>
              <a:t>actuator control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828800"/>
            <a:ext cx="3200400" cy="2011680"/>
          </a:xfrm>
          <a:prstGeom prst="roundRect">
            <a:avLst/>
          </a:prstGeom>
          <a:solidFill>
            <a:srgbClr val="1A1A2E"/>
          </a:solidFill>
          <a:ln>
            <a:solidFill>
              <a:srgbClr val="30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863840" y="2103120"/>
            <a:ext cx="137160" cy="1371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20116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Telemetry Streams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0" y="256032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SSE streaming for critical</a:t>
            </a:r>
            <a:br/>
            <a:r>
              <a:t>subsystem monitoring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206240"/>
            <a:ext cx="3200400" cy="2011680"/>
          </a:xfrm>
          <a:prstGeom prst="roundRect">
            <a:avLst/>
          </a:prstGeom>
          <a:solidFill>
            <a:srgbClr val="1A1A2E"/>
          </a:solidFill>
          <a:ln>
            <a:solidFill>
              <a:srgbClr val="30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4480559"/>
            <a:ext cx="137160" cy="1371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Historical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937759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Time-series charts with</a:t>
            </a:r>
            <a:br/>
            <a:r>
              <a:t>aggregations &amp; trends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06240" y="4206240"/>
            <a:ext cx="3200400" cy="2011680"/>
          </a:xfrm>
          <a:prstGeom prst="roundRect">
            <a:avLst/>
          </a:prstGeom>
          <a:solidFill>
            <a:srgbClr val="1A1A2E"/>
          </a:solidFill>
          <a:ln>
            <a:solidFill>
              <a:srgbClr val="30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389120" y="4480559"/>
            <a:ext cx="137160" cy="1371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Alert System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59" y="4937759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Real-time notifications</a:t>
            </a:r>
            <a:br/>
            <a:r>
              <a:t>when rules trigger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80960" y="4206240"/>
            <a:ext cx="3200400" cy="2011680"/>
          </a:xfrm>
          <a:prstGeom prst="roundRect">
            <a:avLst/>
          </a:prstGeom>
          <a:solidFill>
            <a:srgbClr val="1A1A2E"/>
          </a:solidFill>
          <a:ln>
            <a:solidFill>
              <a:srgbClr val="30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863840" y="4480559"/>
            <a:ext cx="137160" cy="1371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Manual Control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80" y="4937759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Dashboard controls for</a:t>
            </a:r>
            <a:br/>
            <a:r>
              <a:t>direct actuator operation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Microservices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73152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74720" cy="2103120"/>
          </a:xfrm>
          <a:prstGeom prst="roundRect">
            <a:avLst/>
          </a:prstGeom>
          <a:solidFill>
            <a:srgbClr val="1A1A2E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91839" y="1600200"/>
            <a:ext cx="731520" cy="36576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39" y="16002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A0A0A"/>
                </a:solidFill>
                <a:latin typeface="Segoe UI"/>
              </a:defRPr>
            </a:pPr>
            <a:r>
              <a:t>8001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Ingestion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REST polling &amp; SSE streams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463040"/>
            <a:ext cx="3474720" cy="2103120"/>
          </a:xfrm>
          <a:prstGeom prst="roundRect">
            <a:avLst/>
          </a:prstGeom>
          <a:solidFill>
            <a:srgbClr val="1A1A2E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132320" y="1600200"/>
            <a:ext cx="731520" cy="36576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0" y="16002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A0A0A"/>
                </a:solidFill>
                <a:latin typeface="Segoe UI"/>
              </a:defRPr>
            </a:pPr>
            <a:r>
              <a:t>8002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1645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Automation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19456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Rule evaluation &amp; triggers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1463040"/>
            <a:ext cx="3474720" cy="2103120"/>
          </a:xfrm>
          <a:prstGeom prst="roundRect">
            <a:avLst/>
          </a:prstGeom>
          <a:solidFill>
            <a:srgbClr val="1A1A2E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72800" y="1600200"/>
            <a:ext cx="731520" cy="36576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0" y="16002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A0A0A"/>
                </a:solidFill>
                <a:latin typeface="Segoe UI"/>
              </a:defRPr>
            </a:pPr>
            <a:r>
              <a:t>8003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1645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Rule Manager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219456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CRUD API for rules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840480"/>
            <a:ext cx="3474720" cy="2103120"/>
          </a:xfrm>
          <a:prstGeom prst="roundRect">
            <a:avLst/>
          </a:prstGeom>
          <a:solidFill>
            <a:srgbClr val="1A1A2E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91839" y="3977640"/>
            <a:ext cx="731520" cy="36576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91839" y="3977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A0A0A"/>
                </a:solidFill>
                <a:latin typeface="Segoe UI"/>
              </a:defRPr>
            </a:pPr>
            <a:r>
              <a:t>8004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0233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Notification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5720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Real-time SSE alerts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0" y="3840480"/>
            <a:ext cx="3474720" cy="2103120"/>
          </a:xfrm>
          <a:prstGeom prst="roundRect">
            <a:avLst/>
          </a:prstGeom>
          <a:solidFill>
            <a:srgbClr val="1A1A2E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132320" y="3977640"/>
            <a:ext cx="731520" cy="36576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0" y="3977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A0A0A"/>
                </a:solidFill>
                <a:latin typeface="Segoe UI"/>
              </a:defRPr>
            </a:pPr>
            <a:r>
              <a:t>8005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40233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Actuator Control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45720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Device command execution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12480" y="3840480"/>
            <a:ext cx="3474720" cy="2103120"/>
          </a:xfrm>
          <a:prstGeom prst="roundRect">
            <a:avLst/>
          </a:prstGeom>
          <a:solidFill>
            <a:srgbClr val="1A1A2E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972800" y="3977640"/>
            <a:ext cx="731520" cy="36576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0" y="3977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A0A0A"/>
                </a:solidFill>
                <a:latin typeface="Segoe UI"/>
              </a:defRPr>
            </a:pPr>
            <a:r>
              <a:t>8006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40233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Data History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45720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Historical data queries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Infrastructure Services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73152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029200" cy="2286000"/>
          </a:xfrm>
          <a:prstGeom prst="roundRect">
            <a:avLst/>
          </a:prstGeom>
          <a:solidFill>
            <a:srgbClr val="1A1A2E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59E0B"/>
                </a:solidFill>
                <a:latin typeface="Segoe UI"/>
              </a:defRPr>
            </a:pPr>
            <a:r>
              <a:t>RabbitMQ Message Broker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B0"/>
                </a:solidFill>
                <a:latin typeface="Segoe UI"/>
              </a:defRPr>
            </a:pPr>
            <a:r>
              <a:t>• AMQP protocol (port 5672)</a:t>
            </a:r>
            <a:br/>
            <a:r>
              <a:t>• Topic exchange: mars_events</a:t>
            </a:r>
            <a:br/>
            <a:r>
              <a:t>• Event-driven pub/sub</a:t>
            </a:r>
            <a:br/>
            <a:r>
              <a:t>• Durable queues with TTL</a:t>
            </a:r>
            <a:br/>
            <a:r>
              <a:t>• Management UI on port 15672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63040"/>
            <a:ext cx="5029200" cy="2286000"/>
          </a:xfrm>
          <a:prstGeom prst="roundRect">
            <a:avLst/>
          </a:prstGeom>
          <a:solidFill>
            <a:srgbClr val="1A1A2E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7C3AED"/>
                </a:solidFill>
                <a:latin typeface="Segoe UI"/>
              </a:defRPr>
            </a:pPr>
            <a:r>
              <a:t>PostgreSQL Database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9456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B0"/>
                </a:solidFill>
                <a:latin typeface="Segoe UI"/>
              </a:defRPr>
            </a:pPr>
            <a:r>
              <a:t>• PostgreSQL 16 (port 5433)</a:t>
            </a:r>
            <a:br/>
            <a:r>
              <a:t>• automation_rules table</a:t>
            </a:r>
            <a:br/>
            <a:r>
              <a:t>• sensor_readings table</a:t>
            </a:r>
            <a:br/>
            <a:r>
              <a:t>• actuator_commands audit</a:t>
            </a:r>
            <a:br/>
            <a:r>
              <a:t>• Persistent volume storage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10698480" cy="2286000"/>
          </a:xfrm>
          <a:prstGeom prst="roundRect">
            <a:avLst/>
          </a:prstGeom>
          <a:solidFill>
            <a:srgbClr val="1A1A2E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4FF"/>
                </a:solidFill>
                <a:latin typeface="Segoe UI"/>
              </a:defRPr>
            </a:pPr>
            <a:r>
              <a:t>Unified Event Schema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6634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t>{ event_id, sensor_id, timestamp, metric, value, unit, source, status, raw_schema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035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All sensor data normalized to a single format • REST polls + SSE streams → unified events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Automation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73152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D4FF"/>
                </a:solidFill>
                <a:latin typeface="Segoe UI"/>
              </a:defRPr>
            </a:pPr>
            <a:r>
              <a:t>Event-Driven Rule Processing</a:t>
            </a:r>
          </a:p>
        </p:txBody>
      </p:sp>
      <p:sp>
        <p:nvSpPr>
          <p:cNvPr id="6" name="Oval 5"/>
          <p:cNvSpPr/>
          <p:nvPr/>
        </p:nvSpPr>
        <p:spPr>
          <a:xfrm>
            <a:off x="1188720" y="2011680"/>
            <a:ext cx="548640" cy="5486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057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A0A0A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RabbitMQ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B0"/>
                </a:solidFill>
                <a:latin typeface="Segoe UI"/>
              </a:defRPr>
            </a:pPr>
            <a:r>
              <a:t>events.sensor.#</a:t>
            </a:r>
          </a:p>
        </p:txBody>
      </p:sp>
      <p:sp>
        <p:nvSpPr>
          <p:cNvPr id="10" name="Oval 9"/>
          <p:cNvSpPr/>
          <p:nvPr/>
        </p:nvSpPr>
        <p:spPr>
          <a:xfrm>
            <a:off x="3383280" y="2011680"/>
            <a:ext cx="548640" cy="5486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057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A0A0A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651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Parse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1089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B0"/>
                </a:solidFill>
                <a:latin typeface="Segoe UI"/>
              </a:defRPr>
            </a:pPr>
            <a:r>
              <a:t>Extract sensor_id</a:t>
            </a:r>
            <a:br/>
            <a:r>
              <a:t>&amp; value</a:t>
            </a:r>
          </a:p>
        </p:txBody>
      </p:sp>
      <p:sp>
        <p:nvSpPr>
          <p:cNvPr id="14" name="Oval 13"/>
          <p:cNvSpPr/>
          <p:nvPr/>
        </p:nvSpPr>
        <p:spPr>
          <a:xfrm>
            <a:off x="5577840" y="2011680"/>
            <a:ext cx="548640" cy="5486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2057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A0A0A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651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1089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B0"/>
                </a:solidFill>
                <a:latin typeface="Segoe UI"/>
              </a:defRPr>
            </a:pPr>
            <a:r>
              <a:t>Find rules by</a:t>
            </a:r>
            <a:br/>
            <a:r>
              <a:t>sensor_id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0" y="2011680"/>
            <a:ext cx="548640" cy="5486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2057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A0A0A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2651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Evaluate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31089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B0"/>
                </a:solidFill>
                <a:latin typeface="Segoe UI"/>
              </a:defRPr>
            </a:pPr>
            <a:r>
              <a:t>Check condition</a:t>
            </a:r>
            <a:br/>
            <a:r>
              <a:t>(&gt;, &lt;, =)</a:t>
            </a:r>
          </a:p>
        </p:txBody>
      </p:sp>
      <p:sp>
        <p:nvSpPr>
          <p:cNvPr id="22" name="Oval 21"/>
          <p:cNvSpPr/>
          <p:nvPr/>
        </p:nvSpPr>
        <p:spPr>
          <a:xfrm>
            <a:off x="9966960" y="2011680"/>
            <a:ext cx="548640" cy="5486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2057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A0A0A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2651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Command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0" y="31089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B0"/>
                </a:solidFill>
                <a:latin typeface="Segoe UI"/>
              </a:defRPr>
            </a:pPr>
            <a:r>
              <a:t>Publish to</a:t>
            </a:r>
            <a:br/>
            <a:r>
              <a:t>actuators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206240"/>
            <a:ext cx="10698480" cy="2286000"/>
          </a:xfrm>
          <a:prstGeom prst="roundRect">
            <a:avLst/>
          </a:prstGeom>
          <a:solidFill>
            <a:srgbClr val="1A1A2E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3891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0B981"/>
                </a:solidFill>
                <a:latin typeface="Segoe UI"/>
              </a:defRPr>
            </a:pPr>
            <a:r>
              <a:t>IF-THEN Rule Model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9377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Segoe UI"/>
              </a:defRPr>
            </a:pPr>
            <a:r>
              <a:t>IF &lt;sensor_id&gt; &lt;operator&gt; &lt;value&gt; THEN set &lt;actuator_id&gt; to ON | OFF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5778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Operators:  &lt;   &lt;=   =   &gt;   &gt;=   •   Example: IF greenhouse_temperature &gt; 28 THEN set cooling_fan to 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Frontend Application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73152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4FF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• React 18 + TypeScript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• Vite 6 Build 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• React Router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2607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• Tailwind CSS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9183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• Recharts for Charts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65759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• Radix UI Components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3716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4FF"/>
                </a:solidFill>
                <a:latin typeface="Segoe UI"/>
              </a:defRPr>
            </a:pPr>
            <a:r>
              <a:t>Application Pages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8288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Sensors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828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REST sensors dashboard with real-time updates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Telemetry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331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Streaming data visualization with charts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283463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Actuators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83463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Device control and command history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333755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Rule Builder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33755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Create and edit automation rules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84047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Rules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84047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List, enable/disable, delete rules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434339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34339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System health and notification log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572000"/>
            <a:ext cx="10698480" cy="1828800"/>
          </a:xfrm>
          <a:prstGeom prst="roundRect">
            <a:avLst/>
          </a:prstGeom>
          <a:solidFill>
            <a:srgbClr val="1A1A2E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7548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4FF"/>
                </a:solidFill>
                <a:latin typeface="Segoe UI"/>
              </a:defRPr>
            </a:pPr>
            <a:r>
              <a:t>Real-Time Features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2120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Server-Sent Events (SSE) for live notifications  •  Aggressive polling for sensor updates  •  React state management for instant UI feedback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Sensors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73152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 Sens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5717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Telemetry Streaming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73152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2 Tele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5717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Actuator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73152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 Actua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5717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Rule Builder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73152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 rule Bui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659596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Rules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73152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5 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46863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System Status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73152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6 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668969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Database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73152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3657600" cy="4754880"/>
          </a:xfrm>
          <a:prstGeom prst="roundRect">
            <a:avLst/>
          </a:prstGeom>
          <a:solidFill>
            <a:srgbClr val="1A1A2E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D4FF"/>
                </a:solidFill>
                <a:latin typeface="Segoe UI"/>
              </a:defRPr>
            </a:pPr>
            <a:r>
              <a:t>automation_rules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3108960" cy="182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Segoe UI"/>
              </a:defRPr>
            </a:pPr>
            <a:r>
              <a:t>• id (SERIAL PK)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97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Segoe UI"/>
              </a:defRPr>
            </a:pPr>
            <a:r>
              <a:t>• name, description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Segoe UI"/>
              </a:defRPr>
            </a:pPr>
            <a:r>
              <a:t>• sensor_id, operator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37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Segoe UI"/>
              </a:defRPr>
            </a:pPr>
            <a:r>
              <a:t>• threshold_value, threshold_unit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657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Segoe UI"/>
              </a:defRPr>
            </a:pPr>
            <a:r>
              <a:t>• actuator_id, actuator_action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77639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Segoe UI"/>
              </a:defRPr>
            </a:pPr>
            <a:r>
              <a:t>• is_active (BOOLEAN)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97679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Segoe UI"/>
              </a:defRPr>
            </a:pPr>
            <a:r>
              <a:t>• created_at, updated_at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1463040"/>
            <a:ext cx="3657600" cy="4754880"/>
          </a:xfrm>
          <a:prstGeom prst="roundRect">
            <a:avLst/>
          </a:prstGeom>
          <a:solidFill>
            <a:srgbClr val="1A1A2E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6459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7C3AED"/>
                </a:solidFill>
                <a:latin typeface="Segoe UI"/>
              </a:defRPr>
            </a:pPr>
            <a:r>
              <a:t>sensor_readings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59" y="2194560"/>
            <a:ext cx="3108960" cy="1828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59" y="23774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Segoe UI"/>
              </a:defRPr>
            </a:pPr>
            <a:r>
              <a:t>• id (BIGSERIAL PK)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59" y="2697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Segoe UI"/>
              </a:defRPr>
            </a:pPr>
            <a:r>
              <a:t>• sensor_id (VARCHAR)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59" y="30175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Segoe UI"/>
              </a:defRPr>
            </a:pPr>
            <a:r>
              <a:t>• value (DECIMAL)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59" y="3337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Segoe UI"/>
              </a:defRPr>
            </a:pPr>
            <a:r>
              <a:t>• unit (VARCHAR)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59" y="3657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Segoe UI"/>
              </a:defRPr>
            </a:pPr>
            <a:r>
              <a:t>• source (rest/stream)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59" y="3977639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Segoe UI"/>
              </a:defRPr>
            </a:pPr>
            <a:r>
              <a:t>• recorded_at (TIMESTAMP)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59" y="4297679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Segoe UI"/>
              </a:defRPr>
            </a:pPr>
            <a:r>
              <a:t>• created_at (TIMESTAMP)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55279" y="1463040"/>
            <a:ext cx="3657600" cy="4754880"/>
          </a:xfrm>
          <a:prstGeom prst="roundRect">
            <a:avLst/>
          </a:prstGeom>
          <a:solidFill>
            <a:srgbClr val="1A1A2E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59" y="16459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actuator_commands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2194560"/>
            <a:ext cx="3108960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23774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Segoe UI"/>
              </a:defRPr>
            </a:pPr>
            <a:r>
              <a:t>• id (BIGSERIAL PK)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2697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Segoe UI"/>
              </a:defRPr>
            </a:pPr>
            <a:r>
              <a:t>• actuator_id (VARCHAR)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30175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Segoe UI"/>
              </a:defRPr>
            </a:pPr>
            <a:r>
              <a:t>• previous_state, new_state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3337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Segoe UI"/>
              </a:defRPr>
            </a:pPr>
            <a:r>
              <a:t>• source (auto/manual)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3657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Segoe UI"/>
              </a:defRPr>
            </a:pPr>
            <a:r>
              <a:t>• reason (TEXT)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3977639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Segoe UI"/>
              </a:defRPr>
            </a:pPr>
            <a:r>
              <a:t>• rule_id (FK)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4297679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Segoe UI"/>
              </a:defRPr>
            </a:pPr>
            <a:r>
              <a:t>• executed_at (TIMESTAMP)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Data Flow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73152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2011680" cy="1463040"/>
          </a:xfrm>
          <a:prstGeom prst="roundRect">
            <a:avLst/>
          </a:prstGeom>
          <a:solidFill>
            <a:srgbClr val="1A1A2E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59E0B"/>
                </a:solidFill>
                <a:latin typeface="Segoe UI"/>
              </a:defRPr>
            </a:pPr>
            <a:r>
              <a:t>IoT Simulator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B0"/>
                </a:solidFill>
                <a:latin typeface="Segoe UI"/>
              </a:defRPr>
            </a:pPr>
            <a:r>
              <a:t>REST API</a:t>
            </a:r>
            <a:br/>
            <a:r>
              <a:t>SSE Streams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06040" y="3063240"/>
            <a:ext cx="27432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34640" y="2468880"/>
            <a:ext cx="2011680" cy="1463040"/>
          </a:xfrm>
          <a:prstGeom prst="roundRect">
            <a:avLst/>
          </a:prstGeom>
          <a:solidFill>
            <a:srgbClr val="1A1A2E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4FF"/>
                </a:solidFill>
                <a:latin typeface="Segoe UI"/>
              </a:defRPr>
            </a:pPr>
            <a:r>
              <a:t>Ingestion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32918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B0"/>
                </a:solidFill>
                <a:latin typeface="Segoe UI"/>
              </a:defRPr>
            </a:pPr>
            <a:r>
              <a:t>Normalize</a:t>
            </a:r>
            <a:br/>
            <a:r>
              <a:t>Events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892040" y="3063240"/>
            <a:ext cx="27432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20640" y="2468880"/>
            <a:ext cx="2011680" cy="1463040"/>
          </a:xfrm>
          <a:prstGeom prst="roundRect">
            <a:avLst/>
          </a:prstGeom>
          <a:solidFill>
            <a:srgbClr val="1A1A2E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79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59E0B"/>
                </a:solidFill>
                <a:latin typeface="Segoe UI"/>
              </a:defRPr>
            </a:pPr>
            <a:r>
              <a:t>RabbitMQ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79" y="32918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B0"/>
                </a:solidFill>
                <a:latin typeface="Segoe UI"/>
              </a:defRPr>
            </a:pPr>
            <a:r>
              <a:t>Route</a:t>
            </a:r>
            <a:br/>
            <a:r>
              <a:t>Events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178040" y="3063240"/>
            <a:ext cx="27432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640" y="2468880"/>
            <a:ext cx="2011680" cy="1463040"/>
          </a:xfrm>
          <a:prstGeom prst="roundRect">
            <a:avLst/>
          </a:prstGeom>
          <a:solidFill>
            <a:srgbClr val="1A1A2E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79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7C3AED"/>
                </a:solidFill>
                <a:latin typeface="Segoe UI"/>
              </a:defRPr>
            </a:pPr>
            <a:r>
              <a:t>Consumers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32918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B0"/>
                </a:solidFill>
                <a:latin typeface="Segoe UI"/>
              </a:defRPr>
            </a:pPr>
            <a:r>
              <a:t>Process &amp;</a:t>
            </a:r>
            <a:br/>
            <a:r>
              <a:t>Store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464040" y="3063240"/>
            <a:ext cx="27432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92640" y="2468880"/>
            <a:ext cx="2011680" cy="1463040"/>
          </a:xfrm>
          <a:prstGeom prst="roundRect">
            <a:avLst/>
          </a:prstGeom>
          <a:solidFill>
            <a:srgbClr val="1A1A2E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B981"/>
                </a:solidFill>
                <a:latin typeface="Segoe UI"/>
              </a:defRPr>
            </a:pPr>
            <a:r>
              <a:t>Frontend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32918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B0"/>
                </a:solidFill>
                <a:latin typeface="Segoe UI"/>
              </a:defRPr>
            </a:pPr>
            <a:r>
              <a:t>Display &amp;</a:t>
            </a:r>
            <a:br/>
            <a: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4FF"/>
                </a:solidFill>
                <a:latin typeface="Segoe UI"/>
              </a:defRPr>
            </a:pPr>
            <a:r>
              <a:t>Event Types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486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Sensor Events: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8521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Segoe UI"/>
              </a:defRPr>
            </a:pPr>
            <a:r>
              <a:t>events.sensor.{sensor_id}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5486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Actuator Commands: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58521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Segoe UI"/>
              </a:defRPr>
            </a:pPr>
            <a:r>
              <a:t>commands.actuator.{actuator_id}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5486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Notifications: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58521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Segoe UI"/>
              </a:defRPr>
            </a:pPr>
            <a:r>
              <a:t>events.#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73152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3474720" cy="5029200"/>
          </a:xfrm>
          <a:prstGeom prst="roundRect">
            <a:avLst/>
          </a:prstGeom>
          <a:solidFill>
            <a:srgbClr val="1A1A2E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4FF"/>
                </a:solidFill>
                <a:latin typeface="Segoe UI"/>
              </a:defRPr>
            </a:pPr>
            <a:r>
              <a:t>Backend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• Python 3.11+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• FastAPI (Async)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175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• aio-pika (RabbitMQ)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8327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• asyncpg + SQLAlchemy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4903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• httpx (HTTP Client)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14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• Pydantic (Validation)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805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• Uvicorn (ASGI)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1463040"/>
            <a:ext cx="3474720" cy="5029200"/>
          </a:xfrm>
          <a:prstGeom prst="roundRect">
            <a:avLst/>
          </a:prstGeom>
          <a:solidFill>
            <a:srgbClr val="1A1A2E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16459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7C3AED"/>
                </a:solidFill>
                <a:latin typeface="Segoe UI"/>
              </a:defRPr>
            </a:pPr>
            <a:r>
              <a:t>Frontend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2860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• React 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26517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• TypeScript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30175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• Vite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338327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• React Router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374903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• Tailwind CSS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4114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• Recharts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60" y="44805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• Radix UI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0" y="1463040"/>
            <a:ext cx="3474720" cy="5029200"/>
          </a:xfrm>
          <a:prstGeom prst="roundRect">
            <a:avLst/>
          </a:prstGeom>
          <a:solidFill>
            <a:srgbClr val="1A1A2E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16459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Infrastructure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22860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• PostgreSQL 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26517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• RabbitMQ (AMQP)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30175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• Docker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338327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• Docker Compose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374903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• Nginx (Reverse Proxy)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3891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B0"/>
                </a:solidFill>
                <a:latin typeface="Segoe UI"/>
              </a:defRPr>
            </a:pPr>
            <a:r>
              <a:t>Containerized</a:t>
            </a:r>
            <a:br/>
            <a:r>
              <a:t>Microservices</a:t>
            </a:r>
            <a:br/>
            <a:r>
              <a:t>with</a:t>
            </a:r>
            <a:br/>
            <a:r>
              <a:t>Event-Driven</a:t>
            </a:r>
            <a:br/>
            <a:r>
              <a:t>Architecture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Key User Stories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73152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2651760" cy="5029200"/>
          </a:xfrm>
          <a:prstGeom prst="roundRect">
            <a:avLst/>
          </a:prstGeom>
          <a:solidFill>
            <a:srgbClr val="1A1A2E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D4FF"/>
                </a:solidFill>
                <a:latin typeface="Segoe UI"/>
              </a:defRPr>
            </a:pPr>
            <a:r>
              <a:t>Monitoring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• Real-time sensor values on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34639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• Live telemetry from SSE streams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4747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• Automatic dashboard updates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11480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• Status indicators (ok/warning)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75488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• Sensor filtering by category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371600"/>
            <a:ext cx="2651760" cy="5029200"/>
          </a:xfrm>
          <a:prstGeom prst="roundRect">
            <a:avLst/>
          </a:prstGeom>
          <a:solidFill>
            <a:srgbClr val="1A1A2E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5544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D4FF"/>
                </a:solidFill>
                <a:latin typeface="Segoe UI"/>
              </a:defRPr>
            </a:pPr>
            <a:r>
              <a:t>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19456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• View actuator ON/OFF states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834639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• Manual actuator toggle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4747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• Automatic rule-based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411480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• Command history audit trail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371600"/>
            <a:ext cx="2651760" cy="5029200"/>
          </a:xfrm>
          <a:prstGeom prst="roundRect">
            <a:avLst/>
          </a:prstGeom>
          <a:solidFill>
            <a:srgbClr val="1A1A2E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5544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D4FF"/>
                </a:solidFill>
                <a:latin typeface="Segoe UI"/>
              </a:defRPr>
            </a:pPr>
            <a:r>
              <a:t>Automation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19456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• Create IF-THEN rules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834639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• View all automation rules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4747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• Edit existing rules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11480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• Delete/enable/disable rules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75488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• Real-time rule trigger alerts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35440" y="1371600"/>
            <a:ext cx="2651760" cy="5029200"/>
          </a:xfrm>
          <a:prstGeom prst="roundRect">
            <a:avLst/>
          </a:prstGeom>
          <a:solidFill>
            <a:srgbClr val="1A1A2E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0" y="15544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D4FF"/>
                </a:solidFill>
                <a:latin typeface="Segoe UI"/>
              </a:defRPr>
            </a:pPr>
            <a:r>
              <a:t>Analytics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219456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• Live time charts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2834639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• Historical data queries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34747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• System health summary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72600" y="411480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• Connectivity status monitoring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Segoe UI"/>
              </a:defRPr>
            </a:pPr>
            <a:r>
              <a:t>Conclusions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73152" cy="5486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4FF"/>
                </a:solidFill>
                <a:latin typeface="Segoe UI"/>
              </a:defRPr>
            </a:pPr>
            <a:r>
              <a:t>Project Achievements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423160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B0"/>
                </a:solidFill>
                <a:latin typeface="Segoe UI"/>
              </a:defRPr>
            </a:pPr>
            <a:r>
              <a:t>Distributed microservices architecture with event-driven communication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880360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B0"/>
                </a:solidFill>
                <a:latin typeface="Segoe UI"/>
              </a:defRPr>
            </a:pPr>
            <a:r>
              <a:t>Real-time monitoring and control of simulated Mars habitat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337560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B0"/>
                </a:solidFill>
                <a:latin typeface="Segoe UI"/>
              </a:defRPr>
            </a:pPr>
            <a:r>
              <a:t>IF-THEN automation rules with automatic actuator control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794760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B0"/>
                </a:solidFill>
                <a:latin typeface="Segoe UI"/>
              </a:defRPr>
            </a:pPr>
            <a:r>
              <a:t>Modern React dashboard with SSE-based live updates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4251960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B0"/>
                </a:solidFill>
                <a:latin typeface="Segoe UI"/>
              </a:defRPr>
            </a:pPr>
            <a:r>
              <a:t>Containerized deployment with Docker Compose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548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7C3AED"/>
                </a:solidFill>
                <a:latin typeface="Segoe UI"/>
              </a:defRPr>
            </a:pPr>
            <a:r>
              <a:t>Future Enhancements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12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→ Machine learning for predictive maintenance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577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→ Mobile application for remote monitoring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→ Advanced alerting with email/SMS notifications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Thank you for your attention!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