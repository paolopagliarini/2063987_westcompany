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528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FFFFFF"/>
                </a:solidFill>
                <a:latin typeface="Segoe UI Light"/>
              </a:defRPr>
            </a:pPr>
            <a:r>
              <a:rPr dirty="0"/>
              <a:t>Mars Habitat Automation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6607" y="33832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 i="0">
                <a:solidFill>
                  <a:srgbClr val="9494B0"/>
                </a:solidFill>
                <a:latin typeface="Segoe UI"/>
              </a:defRPr>
            </a:pPr>
            <a:r>
              <a:rPr dirty="0"/>
              <a:t>Distributed Event-Driven System for Habitat Monitoring &amp;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87087" y="4608576"/>
            <a:ext cx="30175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6607" y="5029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9494B0"/>
                </a:solidFill>
                <a:latin typeface="Segoe UI"/>
              </a:defRPr>
            </a:pPr>
            <a:r>
              <a:rPr dirty="0"/>
              <a:t>Deda Daniel  •  </a:t>
            </a:r>
            <a:r>
              <a:rPr dirty="0" err="1"/>
              <a:t>Macrì</a:t>
            </a:r>
            <a:r>
              <a:rPr dirty="0"/>
              <a:t> Francesco  •  Pagliarini Paolo  •  </a:t>
            </a:r>
            <a:r>
              <a:rPr dirty="0" err="1"/>
              <a:t>Torresi</a:t>
            </a:r>
            <a:r>
              <a:rPr dirty="0"/>
              <a:t> Flavio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10698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6B6B80"/>
                </a:solidFill>
                <a:latin typeface="Segoe UI"/>
              </a:defRPr>
            </a:pPr>
            <a:r>
              <a:rPr dirty="0"/>
              <a:t>Laboratory of Advanced Programming – Hackathon Exam 202</a:t>
            </a:r>
            <a:r>
              <a:rPr lang="it-IT"/>
              <a:t>5/2026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6607" y="3456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rPr dirty="0"/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70494" y="515572"/>
            <a:ext cx="109728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0D4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Segoe UI"/>
              </a:defRPr>
            </a:pPr>
            <a:r>
              <a:rPr dirty="0"/>
              <a:t>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965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B6B80"/>
                </a:solidFill>
                <a:latin typeface="Segoe UI"/>
              </a:defRPr>
            </a:pPr>
            <a:r>
              <a:t>Problem statement and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0D4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331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51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B6B80"/>
                </a:solidFill>
                <a:latin typeface="Segoe UI"/>
              </a:defRPr>
            </a:pPr>
            <a:r>
              <a:t>Microservices and event-driven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0D4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017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Segoe UI"/>
              </a:defRPr>
            </a:pPr>
            <a:r>
              <a:t>Data Ingestion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337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B6B80"/>
                </a:solidFill>
                <a:latin typeface="Segoe UI"/>
              </a:defRPr>
            </a:pPr>
            <a:r>
              <a:t>REST polling and SSE streaming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0D4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703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Segoe UI"/>
              </a:defRPr>
            </a:pPr>
            <a:r>
              <a:t>Automation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02335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B6B80"/>
                </a:solidFill>
                <a:latin typeface="Segoe UI"/>
              </a:defRPr>
            </a:pPr>
            <a:r>
              <a:t>IF-THEN rule 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0D4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Segoe UI"/>
              </a:defRPr>
            </a:pPr>
            <a:r>
              <a:t>Frontend 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70915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B6B80"/>
                </a:solidFill>
                <a:latin typeface="Segoe UI"/>
              </a:defRPr>
            </a:pPr>
            <a:r>
              <a:t>Real-time dashboard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74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0D4FF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074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39495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B6B80"/>
                </a:solidFill>
                <a:latin typeface="Segoe UI"/>
              </a:defRPr>
            </a:pPr>
            <a:r>
              <a:t>Tools and frameworks used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7607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0D4FF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760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Segoe UI"/>
              </a:defRPr>
            </a:pPr>
            <a:r>
              <a:t>Conclusions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608075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B6B80"/>
                </a:solidFill>
                <a:latin typeface="Segoe UI"/>
              </a:defRPr>
            </a:pPr>
            <a:r>
              <a:t>Achievements and future 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309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6B6B80"/>
                </a:solidFill>
                <a:latin typeface="Segoe UI"/>
              </a:defRPr>
            </a:pPr>
            <a:r>
              <a:t>2/22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The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594360"/>
            <a:ext cx="109728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9494B0"/>
                </a:solidFill>
                <a:latin typeface="Segoe UI"/>
              </a:defRPr>
            </a:pPr>
            <a:r>
              <a:rPr dirty="0"/>
              <a:t>A Mars habitat's automation stack has partially failed, leaving devices operating with incompatible protocols.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5212080" cy="1554480"/>
          </a:xfrm>
          <a:prstGeom prst="roundRect">
            <a:avLst/>
          </a:prstGeom>
          <a:solidFill>
            <a:srgbClr val="1E1E2E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" y="3200400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3154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Segoe UI"/>
              </a:defRPr>
            </a:pPr>
            <a:r>
              <a:t>Multiple Data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76276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rPr dirty="0"/>
              <a:t>REST sensors, SSE streams, WebSocket telemetry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926080"/>
            <a:ext cx="5212080" cy="1554480"/>
          </a:xfrm>
          <a:prstGeom prst="roundRect">
            <a:avLst/>
          </a:prstGeom>
          <a:solidFill>
            <a:srgbClr val="1E1E2E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92240" y="3200400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49440" y="3154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Segoe UI"/>
              </a:defRPr>
            </a:pPr>
            <a:r>
              <a:t>Heterogeneous Formats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664324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rPr dirty="0"/>
              <a:t>Different payload schemas requiring normalization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63440"/>
            <a:ext cx="5212080" cy="1554480"/>
          </a:xfrm>
          <a:prstGeom prst="roundRect">
            <a:avLst/>
          </a:prstGeom>
          <a:solidFill>
            <a:srgbClr val="1E1E2E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05840" y="4937759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63040" y="4892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Segoe UI"/>
              </a:defRPr>
            </a:pPr>
            <a:r>
              <a:t>Real-time Requirements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396005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rPr dirty="0"/>
              <a:t>Immediate response to environmental changes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663440"/>
            <a:ext cx="5212080" cy="1554480"/>
          </a:xfrm>
          <a:prstGeom prst="roundRect">
            <a:avLst/>
          </a:prstGeom>
          <a:solidFill>
            <a:srgbClr val="1E1E2E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92240" y="4937759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49440" y="4892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Segoe UI"/>
              </a:defRPr>
            </a:pPr>
            <a:r>
              <a:t>Automation Needs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34924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rPr dirty="0"/>
              <a:t>Rules-based actuator control for habitat safety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309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6B6B80"/>
                </a:solidFill>
                <a:latin typeface="Segoe UI"/>
              </a:defRPr>
            </a:pPr>
            <a:r>
              <a:t>3/22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rPr dirty="0"/>
              <a:t>Our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594360"/>
            <a:ext cx="109728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9494B0"/>
                </a:solidFill>
                <a:latin typeface="Segoe UI"/>
              </a:defRPr>
            </a:pPr>
            <a:r>
              <a:t>A distributed event-driven platform with unified monitoring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06040"/>
            <a:ext cx="54864" cy="365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Segoe UI"/>
              </a:defRPr>
            </a:pPr>
            <a:r>
              <a:t>Unified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80"/>
                </a:solidFill>
                <a:latin typeface="Segoe UI"/>
              </a:defRPr>
            </a:pPr>
            <a:r>
              <a:t>REST polling + SSE streams normalized to single event schema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474720"/>
            <a:ext cx="54864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337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Segoe UI"/>
              </a:defRPr>
            </a:pPr>
            <a:r>
              <a:t>Event-Driven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03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80"/>
                </a:solidFill>
                <a:latin typeface="Segoe UI"/>
              </a:defRPr>
            </a:pPr>
            <a:r>
              <a:t>RabbitMQ message broker for decoupled microservices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343400"/>
            <a:ext cx="54864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Segoe UI"/>
              </a:defRPr>
            </a:pPr>
            <a:r>
              <a:t>Smart Automation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80"/>
                </a:solidFill>
                <a:latin typeface="Segoe UI"/>
              </a:defRPr>
            </a:pPr>
            <a:r>
              <a:t>IF-THEN rules with automatic actuator control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212080"/>
            <a:ext cx="54864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5074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Segoe UI"/>
              </a:defRPr>
            </a:pPr>
            <a:r>
              <a:t>Real-Time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440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80"/>
                </a:solidFill>
                <a:latin typeface="Segoe UI"/>
              </a:defRPr>
            </a:pPr>
            <a:r>
              <a:t>React SPA with live updates and manual 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309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6B6B80"/>
                </a:solidFill>
                <a:latin typeface="Segoe UI"/>
              </a:defRPr>
            </a:pPr>
            <a:r>
              <a:t>4/22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59367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rPr dirty="0"/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2272" y="421543"/>
            <a:ext cx="109728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iagram.png"/>
          <p:cNvPicPr>
            <a:picLocks noChangeAspect="1"/>
          </p:cNvPicPr>
          <p:nvPr/>
        </p:nvPicPr>
        <p:blipFill>
          <a:blip r:embed="rId2"/>
          <a:srcRect l="7144" t="5452" r="5402" b="4789"/>
          <a:stretch>
            <a:fillRect/>
          </a:stretch>
        </p:blipFill>
        <p:spPr>
          <a:xfrm>
            <a:off x="3692106" y="1185844"/>
            <a:ext cx="4129177" cy="549215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/>
          <p:cNvSpPr txBox="1"/>
          <p:nvPr/>
        </p:nvSpPr>
        <p:spPr>
          <a:xfrm>
            <a:off x="11155680" y="6309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6B6B80"/>
                </a:solidFill>
                <a:latin typeface="Segoe UI"/>
              </a:defRPr>
            </a:pPr>
            <a:r>
              <a:t>5/22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Microservices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00400" cy="2286000"/>
          </a:xfrm>
          <a:prstGeom prst="roundRect">
            <a:avLst/>
          </a:prstGeom>
          <a:solidFill>
            <a:srgbClr val="1E1E2E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017520" y="1508760"/>
            <a:ext cx="777240" cy="32004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17520" y="1481328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A0A0A"/>
                </a:solidFill>
                <a:latin typeface="Segoe UI"/>
              </a:defRPr>
            </a:pPr>
            <a:r>
              <a:t>8001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Segoe UI"/>
              </a:defRPr>
            </a:pPr>
            <a:r>
              <a:t>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REST polling &amp; SSE streams</a:t>
            </a:r>
            <a:br/>
            <a:r>
              <a:t>Schema normalization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371600"/>
            <a:ext cx="3200400" cy="2286000"/>
          </a:xfrm>
          <a:prstGeom prst="roundRect">
            <a:avLst/>
          </a:prstGeom>
          <a:solidFill>
            <a:srgbClr val="1E1E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92240" y="1508760"/>
            <a:ext cx="77724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481328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A0A0A"/>
                </a:solidFill>
                <a:latin typeface="Segoe UI"/>
              </a:defRPr>
            </a:pPr>
            <a:r>
              <a:t>8002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554480"/>
            <a:ext cx="20116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Automatio</a:t>
            </a:r>
            <a:r>
              <a:rPr lang="it-IT" dirty="0"/>
              <a:t>n </a:t>
            </a:r>
            <a:r>
              <a:rPr dirty="0"/>
              <a:t>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00344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rPr dirty="0"/>
              <a:t>Rule evaluation</a:t>
            </a:r>
            <a:br>
              <a:rPr dirty="0"/>
            </a:br>
            <a:r>
              <a:rPr dirty="0"/>
              <a:t>Event-driven triggers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1371600"/>
            <a:ext cx="3200400" cy="2286000"/>
          </a:xfrm>
          <a:prstGeom prst="roundRect">
            <a:avLst/>
          </a:prstGeom>
          <a:solidFill>
            <a:srgbClr val="1E1E2E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966960" y="1508760"/>
            <a:ext cx="77724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66960" y="1481328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A0A0A"/>
                </a:solidFill>
                <a:latin typeface="Segoe UI"/>
              </a:defRPr>
            </a:pPr>
            <a:r>
              <a:t>8003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Segoe UI"/>
              </a:defRPr>
            </a:pPr>
            <a:r>
              <a:t>Rule Manager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37744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rPr dirty="0"/>
              <a:t>CRUD API for automation</a:t>
            </a:r>
            <a:br>
              <a:rPr dirty="0"/>
            </a:br>
            <a:r>
              <a:rPr dirty="0"/>
              <a:t>rules persistence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40480"/>
            <a:ext cx="3200400" cy="2286000"/>
          </a:xfrm>
          <a:prstGeom prst="roundRect">
            <a:avLst/>
          </a:prstGeom>
          <a:solidFill>
            <a:srgbClr val="1E1E2E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017520" y="3977640"/>
            <a:ext cx="7772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017520" y="3950208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A0A0A"/>
                </a:solidFill>
                <a:latin typeface="Segoe UI"/>
              </a:defRPr>
            </a:pPr>
            <a:r>
              <a:t>8004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023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Segoe UI"/>
              </a:defRPr>
            </a:pPr>
            <a:r>
              <a:t>Notification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57200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Real-time SSE alerts</a:t>
            </a:r>
            <a:br/>
            <a:r>
              <a:t>Event broadcasting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3840480"/>
            <a:ext cx="3200400" cy="2286000"/>
          </a:xfrm>
          <a:prstGeom prst="roundRect">
            <a:avLst/>
          </a:prstGeom>
          <a:solidFill>
            <a:srgbClr val="1E1E2E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92240" y="3977640"/>
            <a:ext cx="777240" cy="3200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3950208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A0A0A"/>
                </a:solidFill>
                <a:latin typeface="Segoe UI"/>
              </a:defRPr>
            </a:pPr>
            <a:r>
              <a:t>8005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023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Segoe UI"/>
              </a:defRPr>
            </a:pPr>
            <a:r>
              <a:t>Actuator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768596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rPr dirty="0"/>
              <a:t>Device command execution</a:t>
            </a:r>
            <a:br>
              <a:rPr dirty="0"/>
            </a:br>
            <a:r>
              <a:rPr dirty="0"/>
              <a:t>Audit logging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80960" y="3840480"/>
            <a:ext cx="3200400" cy="2286000"/>
          </a:xfrm>
          <a:prstGeom prst="roundRect">
            <a:avLst/>
          </a:prstGeom>
          <a:solidFill>
            <a:srgbClr val="1E1E2E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966960" y="3977640"/>
            <a:ext cx="777240" cy="32004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966960" y="3950208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A0A0A"/>
                </a:solidFill>
                <a:latin typeface="Segoe UI"/>
              </a:defRPr>
            </a:pPr>
            <a:r>
              <a:t>8006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023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Segoe UI"/>
              </a:defRPr>
            </a:pPr>
            <a:r>
              <a:t>Data History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457200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Historical queries</a:t>
            </a:r>
            <a:br/>
            <a:r>
              <a:t>In-memory cache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309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6B6B80"/>
                </a:solidFill>
                <a:latin typeface="Segoe UI"/>
              </a:defRPr>
            </a:pPr>
            <a:r>
              <a:t>6/22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FBDABBD-6981-32E1-150A-E160302EF1E4}"/>
              </a:ext>
            </a:extLst>
          </p:cNvPr>
          <p:cNvSpPr/>
          <p:nvPr/>
        </p:nvSpPr>
        <p:spPr>
          <a:xfrm>
            <a:off x="652272" y="548640"/>
            <a:ext cx="109728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Infrastructure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39"/>
            <a:ext cx="5029200" cy="2103120"/>
          </a:xfrm>
          <a:prstGeom prst="roundRect">
            <a:avLst/>
          </a:prstGeom>
          <a:solidFill>
            <a:srgbClr val="1E1E2E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59E0B"/>
                </a:solidFill>
                <a:latin typeface="Segoe UI"/>
              </a:defRPr>
            </a:pPr>
            <a:r>
              <a:rPr sz="2400" dirty="0"/>
              <a:t>RabbitMQ Message Broker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39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• AMQP protocol (port 5672)</a:t>
            </a:r>
            <a:br/>
            <a:r>
              <a:t>• Topic exchange: mars_events</a:t>
            </a:r>
            <a:br/>
            <a:r>
              <a:t>• Event-driven pub/sub architecture</a:t>
            </a:r>
            <a:br/>
            <a:r>
              <a:t>• Durable queues with TTL</a:t>
            </a:r>
            <a:br/>
            <a:r>
              <a:t>• Management UI on port 15672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31282" y="1463039"/>
            <a:ext cx="5029200" cy="2103120"/>
          </a:xfrm>
          <a:prstGeom prst="roundRect">
            <a:avLst/>
          </a:prstGeom>
          <a:solidFill>
            <a:srgbClr val="1E1E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8B5CF6"/>
                </a:solidFill>
                <a:latin typeface="Segoe UI"/>
              </a:defRPr>
            </a:pPr>
            <a:r>
              <a:rPr sz="2400" dirty="0"/>
              <a:t>PostgreSQL 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20239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rPr dirty="0"/>
              <a:t>• PostgreSQL 16 (port 5433)</a:t>
            </a:r>
            <a:br>
              <a:rPr dirty="0"/>
            </a:br>
            <a:r>
              <a:rPr dirty="0"/>
              <a:t>• </a:t>
            </a:r>
            <a:r>
              <a:rPr dirty="0" err="1"/>
              <a:t>automation_rules</a:t>
            </a:r>
            <a:r>
              <a:rPr dirty="0"/>
              <a:t> table</a:t>
            </a:r>
            <a:br>
              <a:rPr dirty="0"/>
            </a:br>
            <a:r>
              <a:rPr dirty="0"/>
              <a:t>• </a:t>
            </a:r>
            <a:r>
              <a:rPr dirty="0" err="1"/>
              <a:t>sensor_readings</a:t>
            </a:r>
            <a:r>
              <a:rPr dirty="0"/>
              <a:t> history</a:t>
            </a:r>
            <a:br>
              <a:rPr dirty="0"/>
            </a:br>
            <a:r>
              <a:rPr dirty="0"/>
              <a:t>• </a:t>
            </a:r>
            <a:r>
              <a:rPr dirty="0" err="1"/>
              <a:t>actuator_commands</a:t>
            </a:r>
            <a:r>
              <a:rPr dirty="0"/>
              <a:t> audit</a:t>
            </a:r>
            <a:br>
              <a:rPr dirty="0"/>
            </a:br>
            <a:r>
              <a:rPr dirty="0"/>
              <a:t>• Persistent volume storage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59"/>
            <a:ext cx="10698480" cy="2011680"/>
          </a:xfrm>
          <a:prstGeom prst="roundRect">
            <a:avLst/>
          </a:prstGeom>
          <a:solidFill>
            <a:srgbClr val="1E1E2E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218891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0D4FF"/>
                </a:solidFill>
                <a:latin typeface="Segoe UI"/>
              </a:defRPr>
            </a:pPr>
            <a:r>
              <a:rPr dirty="0"/>
              <a:t>Unified Event Schema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80" y="4754879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FFFFFF"/>
                </a:solidFill>
                <a:latin typeface="Segoe UI"/>
              </a:defRPr>
            </a:pPr>
            <a:r>
              <a:rPr dirty="0"/>
              <a:t>{ </a:t>
            </a:r>
            <a:r>
              <a:rPr dirty="0" err="1"/>
              <a:t>event_id</a:t>
            </a:r>
            <a:r>
              <a:rPr dirty="0"/>
              <a:t>, </a:t>
            </a:r>
            <a:r>
              <a:rPr dirty="0" err="1"/>
              <a:t>sensor_id</a:t>
            </a:r>
            <a:r>
              <a:rPr dirty="0"/>
              <a:t>, timestamp, metric, value, unit, source, status, </a:t>
            </a:r>
            <a:r>
              <a:rPr dirty="0" err="1"/>
              <a:t>raw_schema</a:t>
            </a:r>
            <a:r>
              <a:rPr dirty="0"/>
              <a:t>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03519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6B6B80"/>
                </a:solidFill>
                <a:latin typeface="Segoe UI"/>
              </a:defRPr>
            </a:pPr>
            <a:r>
              <a:rPr dirty="0"/>
              <a:t>All sensor data normalized to a single format • REST polls + SSE streams → unified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309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6B6B80"/>
                </a:solidFill>
                <a:latin typeface="Segoe UI"/>
              </a:defRPr>
            </a:pPr>
            <a:r>
              <a:t>7/22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5E48C4-FB15-3214-3D88-1376312EB933}"/>
              </a:ext>
            </a:extLst>
          </p:cNvPr>
          <p:cNvSpPr/>
          <p:nvPr/>
        </p:nvSpPr>
        <p:spPr>
          <a:xfrm>
            <a:off x="652272" y="502920"/>
            <a:ext cx="109728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Data Ingestion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0D4FF"/>
                </a:solidFill>
                <a:latin typeface="Segoe UI"/>
              </a:defRPr>
            </a:pPr>
            <a:r>
              <a:rPr dirty="0"/>
              <a:t>REST Sensors (Polling)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• greenhouse_temperature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• entrance_humidity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0545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• co2_hall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98063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• hydroponic_ph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9067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• water_tank_level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32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• corridor_pressure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7588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• air_quality_pm25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6849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• air_quality_voc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8B5CF6"/>
                </a:solidFill>
                <a:latin typeface="Segoe UI"/>
              </a:defRPr>
            </a:pPr>
            <a:r>
              <a:t>Telemetry Streams (SSE)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920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• solar_array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2128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• radiation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5054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• life_support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798063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• thermal_loop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09067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• power_bus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3832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• power_consumption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67588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• airlock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480560"/>
            <a:ext cx="10698480" cy="1645920"/>
          </a:xfrm>
          <a:prstGeom prst="roundRect">
            <a:avLst/>
          </a:prstGeom>
          <a:solidFill>
            <a:srgbClr val="1E1E2E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663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0B981"/>
                </a:solidFill>
                <a:latin typeface="Segoe UI"/>
              </a:defRPr>
            </a:pPr>
            <a:r>
              <a:t>Normalization 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206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8 different REST schemas + 7 telemetry schemas → Single unified event format</a:t>
            </a:r>
            <a:br/>
            <a:r>
              <a:t>Published to RabbitMQ with routing key: events.sensor.{sensor_id}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309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6B6B80"/>
                </a:solidFill>
                <a:latin typeface="Segoe UI"/>
              </a:defRPr>
            </a:pPr>
            <a:r>
              <a:t>8/22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CD4780E-EC49-5945-D7AD-6E460B29B796}"/>
              </a:ext>
            </a:extLst>
          </p:cNvPr>
          <p:cNvSpPr/>
          <p:nvPr/>
        </p:nvSpPr>
        <p:spPr>
          <a:xfrm>
            <a:off x="652272" y="489204"/>
            <a:ext cx="109728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Automation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0D4FF"/>
                </a:solidFill>
                <a:latin typeface="Segoe UI"/>
              </a:defRPr>
            </a:pPr>
            <a:r>
              <a:t>Event-Driven Rule Processing</a:t>
            </a:r>
          </a:p>
        </p:txBody>
      </p:sp>
      <p:sp>
        <p:nvSpPr>
          <p:cNvPr id="6" name="Oval 5"/>
          <p:cNvSpPr/>
          <p:nvPr/>
        </p:nvSpPr>
        <p:spPr>
          <a:xfrm>
            <a:off x="1051560" y="1920240"/>
            <a:ext cx="548640" cy="5486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965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0A0A0A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Segoe UI"/>
              </a:defRPr>
            </a:pPr>
            <a:r>
              <a:t>Receive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6B6B80"/>
                </a:solidFill>
                <a:latin typeface="Segoe UI"/>
              </a:defRPr>
            </a:pPr>
            <a:r>
              <a:t>RabbitMQ</a:t>
            </a:r>
            <a:br/>
            <a:r>
              <a:t>event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23160" y="2103120"/>
            <a:ext cx="365760" cy="22860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337560" y="1920240"/>
            <a:ext cx="548640" cy="5486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37560" y="1965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0A0A0A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560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Segoe UI"/>
              </a:defRPr>
            </a:pPr>
            <a:r>
              <a:t>Parse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9260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6B6B80"/>
                </a:solidFill>
                <a:latin typeface="Segoe UI"/>
              </a:defRPr>
            </a:pPr>
            <a:r>
              <a:t>Extract</a:t>
            </a:r>
            <a:br/>
            <a:r>
              <a:t>sensor_id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709160" y="2103120"/>
            <a:ext cx="365760" cy="22860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623559" y="1920240"/>
            <a:ext cx="548640" cy="5486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23559" y="1965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0A0A0A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560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Segoe UI"/>
              </a:defRPr>
            </a:pPr>
            <a:r>
              <a:t>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9260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6B6B80"/>
                </a:solidFill>
                <a:latin typeface="Segoe UI"/>
              </a:defRPr>
            </a:pPr>
            <a:r>
              <a:t>Find rules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995160" y="2103120"/>
            <a:ext cx="365760" cy="22860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909560" y="1920240"/>
            <a:ext cx="548640" cy="5486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09560" y="1965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0A0A0A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560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Segoe UI"/>
              </a:defRPr>
            </a:pPr>
            <a:r>
              <a:t>Evaluate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9260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6B6B80"/>
                </a:solidFill>
                <a:latin typeface="Segoe UI"/>
              </a:defRPr>
            </a:pPr>
            <a:r>
              <a:t>Check</a:t>
            </a:r>
            <a:br/>
            <a:r>
              <a:t>condition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281160" y="2103120"/>
            <a:ext cx="365760" cy="22860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195560" y="1920240"/>
            <a:ext cx="548640" cy="5486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195560" y="1965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0A0A0A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560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Segoe UI"/>
              </a:defRPr>
            </a:pPr>
            <a:r>
              <a:t>Execute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29260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6B6B80"/>
                </a:solidFill>
                <a:latin typeface="Segoe UI"/>
              </a:defRPr>
            </a:pPr>
            <a:r>
              <a:t>Publish</a:t>
            </a:r>
            <a:br/>
            <a:r>
              <a:t>command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931920"/>
            <a:ext cx="10698480" cy="2194560"/>
          </a:xfrm>
          <a:prstGeom prst="roundRect">
            <a:avLst/>
          </a:prstGeom>
          <a:solidFill>
            <a:srgbClr val="1E1E2E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0B981"/>
                </a:solidFill>
                <a:latin typeface="Segoe UI"/>
              </a:defRPr>
            </a:pPr>
            <a:r>
              <a:t>IF-THEN Rule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572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FFFFFF"/>
                </a:solidFill>
                <a:latin typeface="Segoe UI"/>
              </a:defRPr>
            </a:pPr>
            <a:r>
              <a:t>IF &lt;sensor_id&gt; &lt;operator&gt; &lt;value&gt; THEN set &lt;actuator_id&gt; to ON | OFF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2120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Operators:  &lt;   &lt;=   =   &gt;   &gt;=   •   Example: IF greenhouse_temperature &gt; 28 THEN set cooling_fan to 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309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6B6B80"/>
                </a:solidFill>
                <a:latin typeface="Segoe UI"/>
              </a:defRPr>
            </a:pPr>
            <a:r>
              <a:t>9/22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35547D3-F1EC-3B70-BD37-6DE490F9F26D}"/>
              </a:ext>
            </a:extLst>
          </p:cNvPr>
          <p:cNvSpPr/>
          <p:nvPr/>
        </p:nvSpPr>
        <p:spPr>
          <a:xfrm>
            <a:off x="621792" y="548640"/>
            <a:ext cx="109728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Frontend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0D4FF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• React 18 + TypeScript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• Vite 6 Build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• React Router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• Tailwind CSS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• Recharts for Charts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• Radix UI 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2801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0D4FF"/>
                </a:solidFill>
                <a:latin typeface="Segoe UI"/>
              </a:defRPr>
            </a:pPr>
            <a:r>
              <a:t>Application Pages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7373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Segoe UI"/>
              </a:defRPr>
            </a:pPr>
            <a:r>
              <a:t>Sensors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39" y="1737360"/>
            <a:ext cx="53531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rPr dirty="0"/>
              <a:t>REST sensors dashboard with real-time updates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1488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Segoe UI"/>
              </a:defRPr>
            </a:pPr>
            <a:r>
              <a:t>Telemetry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48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Streaming data visualization with charts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5603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Segoe UI"/>
              </a:defRPr>
            </a:pPr>
            <a:r>
              <a:t>Actuators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560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Device control and command history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199" y="2971800"/>
            <a:ext cx="15498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Segoe UI"/>
              </a:defRPr>
            </a:pPr>
            <a:r>
              <a:rPr dirty="0"/>
              <a:t>Rule </a:t>
            </a:r>
            <a:r>
              <a:rPr lang="it-IT" dirty="0"/>
              <a:t>Builder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6492240" y="2971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Create and edit automation 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383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Segoe UI"/>
              </a:defRPr>
            </a:pPr>
            <a:r>
              <a:t>Rules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List, enable/disable, delete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7947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794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System health and notification log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297680"/>
            <a:ext cx="10698480" cy="1828800"/>
          </a:xfrm>
          <a:prstGeom prst="roundRect">
            <a:avLst/>
          </a:prstGeom>
          <a:solidFill>
            <a:srgbClr val="1E1E2E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4480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0D4FF"/>
                </a:solidFill>
                <a:latin typeface="Segoe UI"/>
              </a:defRPr>
            </a:pPr>
            <a:r>
              <a:t>Real-Time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9377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Server-Sent Events (SSE) for live notifications  •  Aggressive polling for sensor updates</a:t>
            </a:r>
            <a:br/>
            <a:r>
              <a:t>React state management for instant UI feedback  •  Recharts for live data visualization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309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6B6B80"/>
                </a:solidFill>
                <a:latin typeface="Segoe UI"/>
              </a:defRPr>
            </a:pPr>
            <a:r>
              <a:t>10/22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30AF359-90CF-F120-437D-93449B5EDC3F}"/>
              </a:ext>
            </a:extLst>
          </p:cNvPr>
          <p:cNvSpPr/>
          <p:nvPr/>
        </p:nvSpPr>
        <p:spPr>
          <a:xfrm>
            <a:off x="676656" y="548640"/>
            <a:ext cx="109728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FFFFFF"/>
                </a:solidFill>
                <a:latin typeface="Segoe UI"/>
              </a:defRPr>
            </a:pPr>
            <a:r>
              <a:t>Sensors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6377" y="104174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B6B80"/>
                </a:solidFill>
                <a:latin typeface="Segoe UI"/>
              </a:defRPr>
            </a:pPr>
            <a:r>
              <a:rPr dirty="0"/>
              <a:t>Real-time REST sensor monitoring with status indicators</a:t>
            </a:r>
          </a:p>
        </p:txBody>
      </p:sp>
      <p:pic>
        <p:nvPicPr>
          <p:cNvPr id="6" name="Picture 5" descr="01 Sens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132" y="1739877"/>
            <a:ext cx="8945592" cy="4419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55680" y="6309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6B6B80"/>
                </a:solidFill>
                <a:latin typeface="Segoe UI"/>
              </a:defRPr>
            </a:pPr>
            <a:r>
              <a:t>11/22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41D0D0-24FF-96D2-BAFE-5BA9FF26F664}"/>
              </a:ext>
            </a:extLst>
          </p:cNvPr>
          <p:cNvSpPr/>
          <p:nvPr/>
        </p:nvSpPr>
        <p:spPr>
          <a:xfrm>
            <a:off x="621792" y="411480"/>
            <a:ext cx="109728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FFFFFF"/>
                </a:solidFill>
                <a:latin typeface="Segoe UI"/>
              </a:defRPr>
            </a:pPr>
            <a:r>
              <a:t>Telemetry 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B6B80"/>
                </a:solidFill>
                <a:latin typeface="Segoe UI"/>
              </a:defRPr>
            </a:pPr>
            <a:r>
              <a:rPr dirty="0"/>
              <a:t>SSE-powered live data visualization</a:t>
            </a:r>
          </a:p>
        </p:txBody>
      </p:sp>
      <p:pic>
        <p:nvPicPr>
          <p:cNvPr id="6" name="Picture 5" descr="02 Tele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051" y="1740508"/>
            <a:ext cx="8945592" cy="44199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55680" y="6309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6B6B80"/>
                </a:solidFill>
                <a:latin typeface="Segoe UI"/>
              </a:defRPr>
            </a:pPr>
            <a:r>
              <a:t>12/22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921D5D-617A-23F4-22E1-3CBEF8E321D8}"/>
              </a:ext>
            </a:extLst>
          </p:cNvPr>
          <p:cNvSpPr/>
          <p:nvPr/>
        </p:nvSpPr>
        <p:spPr>
          <a:xfrm>
            <a:off x="621792" y="411480"/>
            <a:ext cx="109728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FFFFFF"/>
                </a:solidFill>
                <a:latin typeface="Segoe UI"/>
              </a:defRPr>
            </a:pPr>
            <a:r>
              <a:t>Actuator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993007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B6B80"/>
                </a:solidFill>
                <a:latin typeface="Segoe UI"/>
              </a:defRPr>
            </a:pPr>
            <a:r>
              <a:rPr dirty="0"/>
              <a:t>Manual control and command history audit trail</a:t>
            </a:r>
          </a:p>
        </p:txBody>
      </p:sp>
      <p:pic>
        <p:nvPicPr>
          <p:cNvPr id="6" name="Picture 5" descr="03 Actu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347" y="1620254"/>
            <a:ext cx="8986999" cy="44404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55680" y="6309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6B6B80"/>
                </a:solidFill>
                <a:latin typeface="Segoe UI"/>
              </a:defRPr>
            </a:pPr>
            <a:r>
              <a:t>13/22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DCB29E-FE9A-00E1-0344-19BAD6A6D021}"/>
              </a:ext>
            </a:extLst>
          </p:cNvPr>
          <p:cNvSpPr/>
          <p:nvPr/>
        </p:nvSpPr>
        <p:spPr>
          <a:xfrm>
            <a:off x="652272" y="389626"/>
            <a:ext cx="109728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FFFFFF"/>
                </a:solidFill>
                <a:latin typeface="Segoe UI"/>
              </a:defRPr>
            </a:pPr>
            <a:r>
              <a:t>Rule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B6B80"/>
                </a:solidFill>
                <a:latin typeface="Segoe UI"/>
              </a:defRPr>
            </a:pPr>
            <a:r>
              <a:rPr dirty="0"/>
              <a:t>Create IF-THEN automation rules visually</a:t>
            </a:r>
          </a:p>
        </p:txBody>
      </p:sp>
      <p:pic>
        <p:nvPicPr>
          <p:cNvPr id="6" name="Picture 5" descr="04 rule Bui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823" y="1564421"/>
            <a:ext cx="7762048" cy="45521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55680" y="6309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6B6B80"/>
                </a:solidFill>
                <a:latin typeface="Segoe UI"/>
              </a:defRPr>
            </a:pPr>
            <a:r>
              <a:t>14/22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D09FF2-4829-9520-B9A3-8836607E3D01}"/>
              </a:ext>
            </a:extLst>
          </p:cNvPr>
          <p:cNvSpPr/>
          <p:nvPr/>
        </p:nvSpPr>
        <p:spPr>
          <a:xfrm>
            <a:off x="652272" y="411480"/>
            <a:ext cx="109728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FFFFFF"/>
                </a:solidFill>
                <a:latin typeface="Segoe UI"/>
              </a:defRPr>
            </a:pPr>
            <a:r>
              <a:t>Rules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1583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B6B80"/>
                </a:solidFill>
                <a:latin typeface="Segoe UI"/>
              </a:defRPr>
            </a:pPr>
            <a:r>
              <a:rPr dirty="0"/>
              <a:t>List, toggle, edit, and delete automation rules</a:t>
            </a:r>
          </a:p>
        </p:txBody>
      </p:sp>
      <p:pic>
        <p:nvPicPr>
          <p:cNvPr id="6" name="Picture 5" descr="05 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43" y="1894145"/>
            <a:ext cx="9342408" cy="38926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55680" y="6309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6B6B80"/>
                </a:solidFill>
                <a:latin typeface="Segoe UI"/>
              </a:defRPr>
            </a:pPr>
            <a:r>
              <a:t>15/22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C6DF6F-1D9F-B856-4F6B-3A19BF0CCC83}"/>
              </a:ext>
            </a:extLst>
          </p:cNvPr>
          <p:cNvSpPr/>
          <p:nvPr/>
        </p:nvSpPr>
        <p:spPr>
          <a:xfrm>
            <a:off x="676656" y="400050"/>
            <a:ext cx="109728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FFFFFF"/>
                </a:solidFill>
                <a:latin typeface="Segoe UI"/>
              </a:defRPr>
            </a:pPr>
            <a:r>
              <a:t>System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B6B80"/>
                </a:solidFill>
                <a:latin typeface="Segoe UI"/>
              </a:defRPr>
            </a:pPr>
            <a:r>
              <a:rPr dirty="0"/>
              <a:t>Health monitoring and notification center</a:t>
            </a:r>
          </a:p>
        </p:txBody>
      </p:sp>
      <p:pic>
        <p:nvPicPr>
          <p:cNvPr id="6" name="Picture 5" descr="06 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976" y="1541144"/>
            <a:ext cx="7731568" cy="4598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55680" y="6309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6B6B80"/>
                </a:solidFill>
                <a:latin typeface="Segoe UI"/>
              </a:defRPr>
            </a:pPr>
            <a:r>
              <a:t>16/22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AE04EB-28EB-14E2-A774-BE3FBAB4045C}"/>
              </a:ext>
            </a:extLst>
          </p:cNvPr>
          <p:cNvSpPr/>
          <p:nvPr/>
        </p:nvSpPr>
        <p:spPr>
          <a:xfrm>
            <a:off x="621792" y="411480"/>
            <a:ext cx="109728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Database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657600" cy="4937760"/>
          </a:xfrm>
          <a:prstGeom prst="roundRect">
            <a:avLst/>
          </a:prstGeom>
          <a:solidFill>
            <a:srgbClr val="1E1E2E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00D4FF"/>
                </a:solidFill>
                <a:latin typeface="Segoe UI"/>
              </a:defRPr>
            </a:pPr>
            <a:r>
              <a:t>automation_rules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3108960" cy="182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• id (SERIAL PK)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334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• name, 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8094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• sensor_id, operator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28415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• threshold_value, threshold_unit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75887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• actuator_id, actuator_action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2335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• is_active (BOOLEAN)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70831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• created_at, updated_at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1371600"/>
            <a:ext cx="3657600" cy="4937760"/>
          </a:xfrm>
          <a:prstGeom prst="roundRect">
            <a:avLst/>
          </a:prstGeom>
          <a:solidFill>
            <a:srgbClr val="1E1E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912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8B5CF6"/>
                </a:solidFill>
                <a:latin typeface="Segoe UI"/>
              </a:defRPr>
            </a:pPr>
            <a:r>
              <a:t>sensor_readings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59" y="2103120"/>
            <a:ext cx="3108960" cy="182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80559" y="2286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• id (BIGSERIAL PK)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26334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• sensor_id (VARCHAR)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298094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• value (DECIMAL)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3328415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• unit (VARCHAR)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3675887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• source (rest/stream)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402335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• recorded_at (TIMESTAMP)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4370831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• created_at (TIMESTAMP)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1371600"/>
            <a:ext cx="3657600" cy="4937760"/>
          </a:xfrm>
          <a:prstGeom prst="roundRect">
            <a:avLst/>
          </a:prstGeom>
          <a:solidFill>
            <a:srgbClr val="1E1E2E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38159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59E0B"/>
                </a:solidFill>
                <a:latin typeface="Segoe UI"/>
              </a:defRPr>
            </a:pPr>
            <a:r>
              <a:t>actuator_commands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2103120"/>
            <a:ext cx="310896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0" y="2286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• id (BIGSERIAL PK)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6334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• actuator_id (VARCHAR)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98094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• previous_state, new_state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328415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• source (auto/manual)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675887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• reason (TEXT)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02335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• rule_id (FK)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370831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• executed_at (TIMESTAMP)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309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6B6B80"/>
                </a:solidFill>
                <a:latin typeface="Segoe UI"/>
              </a:defRPr>
            </a:pPr>
            <a:r>
              <a:t>17/22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0E2A0B7-99F6-2FD8-36E6-FEC092ECAB94}"/>
              </a:ext>
            </a:extLst>
          </p:cNvPr>
          <p:cNvSpPr/>
          <p:nvPr/>
        </p:nvSpPr>
        <p:spPr>
          <a:xfrm>
            <a:off x="652272" y="530352"/>
            <a:ext cx="109728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Data Flow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2011680" cy="1463040"/>
          </a:xfrm>
          <a:prstGeom prst="roundRect">
            <a:avLst/>
          </a:prstGeom>
          <a:solidFill>
            <a:srgbClr val="1E1E2E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4688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59E0B"/>
                </a:solidFill>
                <a:latin typeface="Segoe UI"/>
              </a:defRPr>
            </a:pPr>
            <a:r>
              <a:t>IoT Simulator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REST API</a:t>
            </a:r>
            <a:br/>
            <a:r>
              <a:t>SSE Streams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06040" y="2880360"/>
            <a:ext cx="27432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834640" y="2286000"/>
            <a:ext cx="2011680" cy="1463040"/>
          </a:xfrm>
          <a:prstGeom prst="roundRect">
            <a:avLst/>
          </a:prstGeom>
          <a:solidFill>
            <a:srgbClr val="1E1E2E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0" y="24688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00D4FF"/>
                </a:solidFill>
                <a:latin typeface="Segoe UI"/>
              </a:defRPr>
            </a:pPr>
            <a:r>
              <a:t>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1089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Normalize</a:t>
            </a:r>
            <a:br/>
            <a:r>
              <a:t>Events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92040" y="2880360"/>
            <a:ext cx="27432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120640" y="2286000"/>
            <a:ext cx="2011680" cy="1463040"/>
          </a:xfrm>
          <a:prstGeom prst="roundRect">
            <a:avLst/>
          </a:prstGeom>
          <a:solidFill>
            <a:srgbClr val="1E1E2E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12079" y="24688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59E0B"/>
                </a:solidFill>
                <a:latin typeface="Segoe UI"/>
              </a:defRPr>
            </a:pPr>
            <a:r>
              <a:t>RabbitMQ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9" y="31089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Route</a:t>
            </a:r>
            <a:br/>
            <a:r>
              <a:t>Events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78040" y="2880360"/>
            <a:ext cx="27432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406640" y="2286000"/>
            <a:ext cx="2011680" cy="1463040"/>
          </a:xfrm>
          <a:prstGeom prst="roundRect">
            <a:avLst/>
          </a:prstGeom>
          <a:solidFill>
            <a:srgbClr val="1E1E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79" y="24688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8B5CF6"/>
                </a:solidFill>
                <a:latin typeface="Segoe UI"/>
              </a:defRPr>
            </a:pPr>
            <a:r>
              <a:t>Consumers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1089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Process &amp;</a:t>
            </a:r>
            <a:br/>
            <a:r>
              <a:t>Store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464040" y="2880360"/>
            <a:ext cx="27432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692640" y="2286000"/>
            <a:ext cx="2011680" cy="1463040"/>
          </a:xfrm>
          <a:prstGeom prst="roundRect">
            <a:avLst/>
          </a:prstGeom>
          <a:solidFill>
            <a:srgbClr val="1E1E2E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84080" y="24688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10B981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31089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Display &amp;</a:t>
            </a:r>
            <a:br/>
            <a: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0D4FF"/>
                </a:solidFill>
                <a:latin typeface="Segoe UI"/>
              </a:defRPr>
            </a:pPr>
            <a:r>
              <a:t>Event Routing Keys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349240"/>
            <a:ext cx="54864" cy="365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Segoe UI"/>
              </a:defRPr>
            </a:pPr>
            <a:r>
              <a:t>Sensor Events: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69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B6B80"/>
                </a:solidFill>
                <a:latin typeface="Segoe UI"/>
              </a:defRPr>
            </a:pPr>
            <a:r>
              <a:t>events.sensor.{sensor_id}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5349240"/>
            <a:ext cx="54864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628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Segoe UI"/>
              </a:defRPr>
            </a:pPr>
            <a:r>
              <a:t>Actuator Commands: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5669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B6B80"/>
                </a:solidFill>
                <a:latin typeface="Segoe UI"/>
              </a:defRPr>
            </a:pPr>
            <a:r>
              <a:t>commands.actuator.{actuator_id}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5349240"/>
            <a:ext cx="54864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8388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Segoe UI"/>
              </a:defRPr>
            </a:pPr>
            <a:r>
              <a:t>Notifications: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5669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B6B80"/>
                </a:solidFill>
                <a:latin typeface="Segoe UI"/>
              </a:defRPr>
            </a:pPr>
            <a:r>
              <a:t>events.#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309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6B6B80"/>
                </a:solidFill>
                <a:latin typeface="Segoe UI"/>
              </a:defRPr>
            </a:pPr>
            <a:r>
              <a:t>18/22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C6BDC2F-EB72-1B69-777C-B8D9B1553349}"/>
              </a:ext>
            </a:extLst>
          </p:cNvPr>
          <p:cNvSpPr/>
          <p:nvPr/>
        </p:nvSpPr>
        <p:spPr>
          <a:xfrm>
            <a:off x="640080" y="548639"/>
            <a:ext cx="109728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474720" cy="4846320"/>
          </a:xfrm>
          <a:prstGeom prst="roundRect">
            <a:avLst/>
          </a:prstGeom>
          <a:solidFill>
            <a:srgbClr val="1E1E2E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0D4FF"/>
                </a:solidFill>
                <a:latin typeface="Segoe UI"/>
              </a:defRPr>
            </a:pPr>
            <a:r>
              <a:t>Backend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rPr dirty="0"/>
              <a:t>• Python</a:t>
            </a:r>
            <a:r>
              <a:rPr lang="it-IT" dirty="0"/>
              <a:t> 3.11+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• FastAPI (Async)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2607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• aio-pika (RabbitMQ)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9183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• asyncpg + SQLAlchemy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5759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• httpx (HTTP Client)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2335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• Pydantic (Validation)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• Uvicorn (ASGI)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371600"/>
            <a:ext cx="3474720" cy="4846320"/>
          </a:xfrm>
          <a:prstGeom prst="roundRect">
            <a:avLst/>
          </a:prstGeom>
          <a:solidFill>
            <a:srgbClr val="1E1E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8B5CF6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rPr dirty="0"/>
              <a:t>• React 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560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• TypeScript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92607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• Vite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29183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• React Router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65759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• Tailwind CSS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402335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• Recharts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• Radix UI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1371600"/>
            <a:ext cx="3474720" cy="4846320"/>
          </a:xfrm>
          <a:prstGeom prst="roundRect">
            <a:avLst/>
          </a:prstGeom>
          <a:solidFill>
            <a:srgbClr val="1E1E2E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8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59E0B"/>
                </a:solidFill>
                <a:latin typeface="Segoe UI"/>
              </a:defRPr>
            </a:pPr>
            <a:r>
              <a:t>Infrastructure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• PostgreSQL 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2560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• RabbitMQ (AMQP)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292607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• Docker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29183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• Docker Compose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365759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• Nginx (Reverse Proxy)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29768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6B6B80"/>
                </a:solidFill>
                <a:latin typeface="Segoe UI"/>
              </a:defRPr>
            </a:pPr>
            <a:r>
              <a:t>Containerized</a:t>
            </a:r>
            <a:br/>
            <a:r>
              <a:t>Microservices</a:t>
            </a:r>
            <a:br/>
            <a:r>
              <a:t>with</a:t>
            </a:r>
            <a:br/>
            <a:r>
              <a:t>Event-Driven</a:t>
            </a:r>
            <a:br/>
            <a:r>
              <a:t>Architecture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309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6B6B80"/>
                </a:solidFill>
                <a:latin typeface="Segoe UI"/>
              </a:defRPr>
            </a:pPr>
            <a:r>
              <a:t>19/22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941ADB9-6F53-8ABE-B608-5967F65FF12D}"/>
              </a:ext>
            </a:extLst>
          </p:cNvPr>
          <p:cNvSpPr/>
          <p:nvPr/>
        </p:nvSpPr>
        <p:spPr>
          <a:xfrm>
            <a:off x="585216" y="548640"/>
            <a:ext cx="109728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Key User Stories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2651760" cy="5029200"/>
          </a:xfrm>
          <a:prstGeom prst="roundRect">
            <a:avLst/>
          </a:prstGeom>
          <a:solidFill>
            <a:srgbClr val="1E1E2E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65176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00D4FF"/>
                </a:solidFill>
                <a:latin typeface="Segoe UI"/>
              </a:defRPr>
            </a:pPr>
            <a:r>
              <a:t>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• Real-time sensor values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97479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• Live telemetry from SSE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91839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• Automatic dashboard updates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862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• Status indicators (ok/warning)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480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• Sensor filtering by category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280160"/>
            <a:ext cx="2651760" cy="5029200"/>
          </a:xfrm>
          <a:prstGeom prst="roundRect">
            <a:avLst/>
          </a:prstGeom>
          <a:solidFill>
            <a:srgbClr val="1E1E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83280" y="1280160"/>
            <a:ext cx="265176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8B5CF6"/>
                </a:solidFill>
                <a:latin typeface="Segoe UI"/>
              </a:defRPr>
            </a:pPr>
            <a: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1031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• View actuator ON/OFF states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697479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• Manual actuator toggle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291839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• Automatic rule-based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8862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• Command history audit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280160"/>
            <a:ext cx="2651760" cy="5029200"/>
          </a:xfrm>
          <a:prstGeom prst="roundRect">
            <a:avLst/>
          </a:prstGeom>
          <a:solidFill>
            <a:srgbClr val="1E1E2E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1280160"/>
            <a:ext cx="26517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10B981"/>
                </a:solidFill>
                <a:latin typeface="Segoe UI"/>
              </a:defRPr>
            </a:pPr>
            <a:r>
              <a:t>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1031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• Create IF-THEN 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697479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• View all automation rules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91839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• Edit existing rules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8862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• Delete/enable/disable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480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• Real-time trigger alerts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35440" y="1280160"/>
            <a:ext cx="2651760" cy="5029200"/>
          </a:xfrm>
          <a:prstGeom prst="roundRect">
            <a:avLst/>
          </a:prstGeom>
          <a:solidFill>
            <a:srgbClr val="1E1E2E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235440" y="1280160"/>
            <a:ext cx="26517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2688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59E0B"/>
                </a:solidFill>
                <a:latin typeface="Segoe UI"/>
              </a:defRPr>
            </a:pPr>
            <a:r>
              <a:t>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21031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• Live time charts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2697479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• Historical data queries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3291839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• System health summary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38862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94B0"/>
                </a:solidFill>
                <a:latin typeface="Segoe UI"/>
              </a:defRPr>
            </a:pPr>
            <a:r>
              <a:t>• Connectivity monitoring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309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6B6B80"/>
                </a:solidFill>
                <a:latin typeface="Segoe UI"/>
              </a:defRPr>
            </a:pPr>
            <a:r>
              <a:t>20/22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CC55A89-25A2-99C1-A77B-F92BF313F9D2}"/>
              </a:ext>
            </a:extLst>
          </p:cNvPr>
          <p:cNvSpPr/>
          <p:nvPr/>
        </p:nvSpPr>
        <p:spPr>
          <a:xfrm>
            <a:off x="621792" y="548640"/>
            <a:ext cx="109728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0B981"/>
                </a:solidFill>
                <a:latin typeface="Segoe UI"/>
              </a:defRPr>
            </a:pPr>
            <a:r>
              <a:rPr dirty="0"/>
              <a:t>Project Achievements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304288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Distributed microservices architecture with event-driven communication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74320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63347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Real-time monitoring and control of simulated Mars habitat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8211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072384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IF-THEN automation rules with automatic actuator control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621024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511296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Modern React dashboard with SSE-based live updates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059936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9502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Containerized deployment with Docker Compose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498848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389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494B0"/>
                </a:solidFill>
                <a:latin typeface="Segoe UI"/>
              </a:defRPr>
            </a:pPr>
            <a:r>
              <a:t>Unified event schema for heterogeneous data 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37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8B5CF6"/>
                </a:solidFill>
                <a:latin typeface="Segoe UI"/>
              </a:defRPr>
            </a:pPr>
            <a:r>
              <a:t>Future Enhancements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94960"/>
            <a:ext cx="2829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Segoe UI"/>
              </a:defRPr>
            </a:pPr>
            <a:r>
              <a:rPr dirty="0"/>
              <a:t>→ </a:t>
            </a:r>
            <a:r>
              <a:rPr dirty="0" err="1"/>
              <a:t>MachineLearning</a:t>
            </a:r>
            <a:r>
              <a:rPr dirty="0"/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55676" y="5419606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80"/>
                </a:solidFill>
                <a:latin typeface="Segoe UI"/>
              </a:defRPr>
            </a:pPr>
            <a:r>
              <a:t>Predictive maintenance and anomaly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60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Segoe UI"/>
              </a:defRPr>
            </a:pPr>
            <a:r>
              <a:t>→ Mobile App: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5676" y="575714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80"/>
                </a:solidFill>
                <a:latin typeface="Segoe UI"/>
              </a:defRPr>
            </a:pPr>
            <a:r>
              <a:t>Remote monitoring and push notifications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126480"/>
            <a:ext cx="2582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Segoe UI"/>
              </a:defRPr>
            </a:pPr>
            <a:r>
              <a:rPr dirty="0"/>
              <a:t>→ Advanced</a:t>
            </a:r>
            <a:r>
              <a:rPr lang="it-IT" dirty="0"/>
              <a:t> </a:t>
            </a:r>
            <a:r>
              <a:rPr dirty="0"/>
              <a:t>Alerting: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5676" y="6153343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80"/>
                </a:solidFill>
                <a:latin typeface="Segoe UI"/>
              </a:defRPr>
            </a:pPr>
            <a:r>
              <a:rPr dirty="0"/>
              <a:t>Email/SMS notifications for critical events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309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6B6B80"/>
                </a:solidFill>
                <a:latin typeface="Segoe UI"/>
              </a:defRPr>
            </a:pPr>
            <a:r>
              <a:t>21/22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D97FD9C-9CA4-0EDC-9ECA-37AB89CFF66A}"/>
              </a:ext>
            </a:extLst>
          </p:cNvPr>
          <p:cNvSpPr/>
          <p:nvPr/>
        </p:nvSpPr>
        <p:spPr>
          <a:xfrm>
            <a:off x="676656" y="589788"/>
            <a:ext cx="109728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FFFFFF"/>
                </a:solidFill>
                <a:latin typeface="Segoe UI Light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114800"/>
            <a:ext cx="21031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9494B0"/>
                </a:solidFill>
                <a:latin typeface="Segoe UI"/>
              </a:defRPr>
            </a:pPr>
            <a:r>
              <a:t>Deda Daniel  •  Macrì Francesco  •  Pagliarini Paolo  •  Torresi Flavio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10698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6B6B80"/>
                </a:solidFill>
                <a:latin typeface="Segoe UI"/>
              </a:defRPr>
            </a:pPr>
            <a:r>
              <a:rPr dirty="0"/>
              <a:t>Laboratory of Advanced Programming – Hackathon Exam 202</a:t>
            </a:r>
            <a:r>
              <a:rPr lang="it-IT" dirty="0"/>
              <a:t>5</a:t>
            </a:r>
            <a:r>
              <a:rPr dirty="0"/>
              <a:t>/202</a:t>
            </a:r>
            <a:r>
              <a:rPr lang="it-IT" dirty="0"/>
              <a:t>6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11155680" y="6309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6B6B80"/>
                </a:solidFill>
                <a:latin typeface="Segoe UI"/>
              </a:defRPr>
            </a:pPr>
            <a:r>
              <a:t>22/22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1197</Words>
  <Application>Microsoft Office PowerPoint</Application>
  <PresentationFormat>Widescreen</PresentationFormat>
  <Paragraphs>278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 Deda</cp:lastModifiedBy>
  <cp:revision>6</cp:revision>
  <dcterms:created xsi:type="dcterms:W3CDTF">2013-01-27T09:14:16Z</dcterms:created>
  <dcterms:modified xsi:type="dcterms:W3CDTF">2026-03-10T13:03:13Z</dcterms:modified>
  <cp:category/>
</cp:coreProperties>
</file>