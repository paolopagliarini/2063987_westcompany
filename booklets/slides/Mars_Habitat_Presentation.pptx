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0" r:id="rId14"/>
    <p:sldId id="281" r:id="rId15"/>
    <p:sldId id="282" r:id="rId16"/>
    <p:sldId id="283" r:id="rId17"/>
    <p:sldId id="284" r:id="rId18"/>
    <p:sldId id="285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528" y="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213223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0">
                <a:solidFill>
                  <a:srgbClr val="FFFFFF"/>
                </a:solidFill>
                <a:latin typeface="Segoe UI Light"/>
              </a:defRPr>
            </a:pPr>
            <a:r>
              <a:rPr dirty="0"/>
              <a:t>Mars Habitat Automation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771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9494B0"/>
                </a:solidFill>
                <a:latin typeface="Segoe UI"/>
              </a:defRPr>
            </a:pPr>
            <a:r>
              <a:rPr dirty="0"/>
              <a:t>Distributed Event-Driven System for Habitat Monitoring &amp;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4710056"/>
            <a:ext cx="301752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6607" y="5076415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9494B0"/>
                </a:solidFill>
                <a:latin typeface="Segoe UI"/>
              </a:defRPr>
            </a:pPr>
            <a:r>
              <a:rPr dirty="0"/>
              <a:t>Deda Daniel  •  </a:t>
            </a:r>
            <a:r>
              <a:rPr dirty="0" err="1"/>
              <a:t>Macrì</a:t>
            </a:r>
            <a:r>
              <a:rPr dirty="0"/>
              <a:t> Francesco  •  Pagliarini Paolo  •  </a:t>
            </a:r>
            <a:r>
              <a:rPr dirty="0" err="1"/>
              <a:t>Torresi</a:t>
            </a:r>
            <a:r>
              <a:rPr dirty="0"/>
              <a:t> Flavio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10698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rPr dirty="0"/>
              <a:t>Laboratory of Advanced Programming – Hackathon Exam 202</a:t>
            </a:r>
            <a:r>
              <a:rPr lang="it-IT" dirty="0"/>
              <a:t>5</a:t>
            </a:r>
            <a:r>
              <a:rPr dirty="0"/>
              <a:t>/202</a:t>
            </a:r>
            <a:r>
              <a:rPr lang="it-IT" dirty="0"/>
              <a:t>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2272" y="66294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45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Project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965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Problem statement and objectives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331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51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Microservices and event-driven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017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Data Ingestion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3375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REST polling and SSE streaming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Automation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02335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IF-THEN rule 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389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Frontend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70915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Real-time dashboard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749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074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39495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Tools and frameworks used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7607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760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Conclusions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608075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Achievements and future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2/24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The Challenge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54864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103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 i="0">
                <a:solidFill>
                  <a:srgbClr val="9494B0"/>
                </a:solidFill>
                <a:latin typeface="Segoe UI"/>
              </a:defRPr>
            </a:pPr>
            <a:r>
              <a:rPr dirty="0"/>
              <a:t>A Mars habitat's automation stack has partially failed, leaving devices operating with incompatible protocols.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5212080" cy="155448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05840" y="3200400"/>
            <a:ext cx="320040" cy="3200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63040" y="3154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Multiple Data 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65760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rPr dirty="0"/>
              <a:t>REST sensors, SSE streams, WebSocket telemetry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926080"/>
            <a:ext cx="5212080" cy="155448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492240" y="3200400"/>
            <a:ext cx="320040" cy="3200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49440" y="3154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Heterogeneous Formats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607696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rPr dirty="0"/>
              <a:t>Different payload schemas requiring normalization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663440"/>
            <a:ext cx="5212080" cy="155448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05840" y="4937759"/>
            <a:ext cx="320040" cy="3200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463040" y="48920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Real-time Requirements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42275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rPr dirty="0"/>
              <a:t>Immediate response to environmental changes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663440"/>
            <a:ext cx="5212080" cy="155448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492240" y="4937759"/>
            <a:ext cx="320040" cy="3200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49440" y="48920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Automation Needs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42275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rPr dirty="0"/>
              <a:t>Rules-based actuator control for habitat safety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Our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64008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 i="0">
                <a:solidFill>
                  <a:srgbClr val="9494B0"/>
                </a:solidFill>
                <a:latin typeface="Segoe UI"/>
              </a:defRPr>
            </a:pPr>
            <a:r>
              <a:t>A distributed event-driven platform with unified monitoring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606040"/>
            <a:ext cx="54864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Unified Ingestion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REST polling + SSE streams normalized to single event schema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474720"/>
            <a:ext cx="54864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3337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Event-Driven 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033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RabbitMQ message broker for decoupled microservices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343400"/>
            <a:ext cx="54864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06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Smart Automation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IF-THEN rules with automatic actuator control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212080"/>
            <a:ext cx="54864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5074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Real-Time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440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React SPA with live updates and manual controls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4/24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6760" y="1874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rPr dirty="0"/>
              <a:t>System Architecture</a:t>
            </a:r>
          </a:p>
        </p:txBody>
      </p:sp>
      <p:pic>
        <p:nvPicPr>
          <p:cNvPr id="5" name="Picture 4" descr="Diagram.png"/>
          <p:cNvPicPr>
            <a:picLocks noChangeAspect="1"/>
          </p:cNvPicPr>
          <p:nvPr/>
        </p:nvPicPr>
        <p:blipFill>
          <a:blip r:embed="rId2"/>
          <a:srcRect l="7972" t="6760" r="8051" b="4808"/>
          <a:stretch>
            <a:fillRect/>
          </a:stretch>
        </p:blipFill>
        <p:spPr>
          <a:xfrm>
            <a:off x="4145459" y="1060437"/>
            <a:ext cx="3980329" cy="543180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5/24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12906B-7423-9780-71E2-C35D97D8ECE2}"/>
              </a:ext>
            </a:extLst>
          </p:cNvPr>
          <p:cNvSpPr/>
          <p:nvPr/>
        </p:nvSpPr>
        <p:spPr>
          <a:xfrm>
            <a:off x="595436" y="387293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rPr dirty="0"/>
              <a:t>Microservices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0040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017520" y="1508760"/>
            <a:ext cx="777240" cy="3200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017520" y="148132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A0A0A"/>
                </a:solidFill>
                <a:latin typeface="Segoe UI"/>
              </a:defRPr>
            </a:pPr>
            <a:r>
              <a:t>8001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Ingestion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REST polling &amp; SSE streams</a:t>
            </a:r>
            <a:br/>
            <a:r>
              <a:t>Schema normalization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371600"/>
            <a:ext cx="320040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92240" y="1508760"/>
            <a:ext cx="77724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148132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A0A0A"/>
                </a:solidFill>
                <a:latin typeface="Segoe UI"/>
              </a:defRPr>
            </a:pPr>
            <a:r>
              <a:t>8002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Automation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8600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rPr dirty="0"/>
              <a:t>Rule evaluation</a:t>
            </a:r>
            <a:br>
              <a:rPr dirty="0"/>
            </a:br>
            <a:r>
              <a:rPr dirty="0"/>
              <a:t>Event-driven triggers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1371600"/>
            <a:ext cx="320040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966960" y="1508760"/>
            <a:ext cx="777240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966960" y="148132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A0A0A"/>
                </a:solidFill>
                <a:latin typeface="Segoe UI"/>
              </a:defRPr>
            </a:pPr>
            <a:r>
              <a:t>8003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Rule Manager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2318004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rPr dirty="0"/>
              <a:t>CRUD API for automation</a:t>
            </a:r>
            <a:br>
              <a:rPr dirty="0"/>
            </a:br>
            <a:r>
              <a:rPr dirty="0"/>
              <a:t>rules persistence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840480"/>
            <a:ext cx="320040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017520" y="3977640"/>
            <a:ext cx="777240" cy="3200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017520" y="395020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A0A0A"/>
                </a:solidFill>
                <a:latin typeface="Segoe UI"/>
              </a:defRPr>
            </a:pPr>
            <a:r>
              <a:t>8004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Notification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Real-time SSE alerts</a:t>
            </a:r>
            <a:br/>
            <a:r>
              <a:t>Event broadcasting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6240" y="3840480"/>
            <a:ext cx="320040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492240" y="3977640"/>
            <a:ext cx="777240" cy="32004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395020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A0A0A"/>
                </a:solidFill>
                <a:latin typeface="Segoe UI"/>
              </a:defRPr>
            </a:pPr>
            <a:r>
              <a:t>8005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Actuator Control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75488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rPr dirty="0"/>
              <a:t>Device command execution</a:t>
            </a:r>
            <a:br>
              <a:rPr dirty="0"/>
            </a:br>
            <a:r>
              <a:rPr dirty="0"/>
              <a:t>Audit logging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80960" y="3840480"/>
            <a:ext cx="320040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966960" y="3977640"/>
            <a:ext cx="777240" cy="3200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966960" y="395020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A0A0A"/>
                </a:solidFill>
                <a:latin typeface="Segoe UI"/>
              </a:defRPr>
            </a:pPr>
            <a:r>
              <a:t>8006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Data History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457200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Historical queries</a:t>
            </a:r>
            <a:br/>
            <a:r>
              <a:t>In-memory cache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6/24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F4AED95-871E-C1F3-7A7C-91F5E0DCA9D0}"/>
              </a:ext>
            </a:extLst>
          </p:cNvPr>
          <p:cNvSpPr/>
          <p:nvPr/>
        </p:nvSpPr>
        <p:spPr>
          <a:xfrm>
            <a:off x="652272" y="54864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Infrastructure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6781" y="1508759"/>
            <a:ext cx="5029200" cy="2148839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F59E0B"/>
                </a:solidFill>
                <a:latin typeface="Segoe UI"/>
              </a:defRPr>
            </a:pPr>
            <a:r>
              <a:t>RabbitMQ Message Broker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AMQP protocol (port 5672)</a:t>
            </a:r>
            <a:br/>
            <a:r>
              <a:t>• Topic exchange: mars_events</a:t>
            </a:r>
            <a:br/>
            <a:r>
              <a:t>• Event-driven pub/sub architecture</a:t>
            </a:r>
            <a:br/>
            <a:r>
              <a:t>• Durable queues with TTL</a:t>
            </a:r>
            <a:br/>
            <a:r>
              <a:t>• Management UI on port 15672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08759"/>
            <a:ext cx="5029200" cy="214884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8B5CF6"/>
                </a:solidFill>
                <a:latin typeface="Segoe UI"/>
              </a:defRPr>
            </a:pPr>
            <a:r>
              <a:t>PostgreSQL Database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0312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PostgreSQL 16 (port 5433)</a:t>
            </a:r>
            <a:br/>
            <a:r>
              <a:t>• automation_rules table</a:t>
            </a:r>
            <a:br/>
            <a:r>
              <a:t>• sensor_readings history</a:t>
            </a:r>
            <a:br/>
            <a:r>
              <a:t>• actuator_commands audit</a:t>
            </a:r>
            <a:br/>
            <a:r>
              <a:t>• Persistent volume storage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86199"/>
            <a:ext cx="10698480" cy="2148839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045325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rPr dirty="0"/>
              <a:t>Unified Event Schema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63441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FFFFFF"/>
                </a:solidFill>
                <a:latin typeface="Segoe UI"/>
              </a:defRPr>
            </a:pPr>
            <a:r>
              <a:rPr dirty="0"/>
              <a:t>{ </a:t>
            </a:r>
            <a:r>
              <a:rPr dirty="0" err="1"/>
              <a:t>event_id</a:t>
            </a:r>
            <a:r>
              <a:rPr dirty="0"/>
              <a:t>, </a:t>
            </a:r>
            <a:r>
              <a:rPr dirty="0" err="1"/>
              <a:t>sensor_id</a:t>
            </a:r>
            <a:r>
              <a:rPr dirty="0"/>
              <a:t>, timestamp, metric, value, unit, source, status, </a:t>
            </a:r>
            <a:r>
              <a:rPr dirty="0" err="1"/>
              <a:t>raw_schema</a:t>
            </a:r>
            <a:r>
              <a:rPr dirty="0"/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9487" y="525601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rPr dirty="0"/>
              <a:t>All sensor data normalized to a single format • REST polls + SSE streams → unified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7/24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E0C69B6-7133-61D9-E40C-02A9A48D5B3A}"/>
              </a:ext>
            </a:extLst>
          </p:cNvPr>
          <p:cNvSpPr/>
          <p:nvPr/>
        </p:nvSpPr>
        <p:spPr>
          <a:xfrm>
            <a:off x="621792" y="548639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Data Ingestion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REST Sensors (Polling)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greenhouse_temperature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entrance_humidity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0545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co2_hall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98063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hydroponic_ph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90671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water_tank_level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7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corridor_pressure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75887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air_quality_pm25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6849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air_quality_voc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8B5CF6"/>
                </a:solidFill>
                <a:latin typeface="Segoe UI"/>
              </a:defRPr>
            </a:pPr>
            <a:r>
              <a:t>Telemetry Streams (SSE)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920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solar_array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2128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radiation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5054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life_support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798063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thermal_loop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090671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power_bus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38327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power_consumption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675887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airlock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480560"/>
            <a:ext cx="10698480" cy="164592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6634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0B981"/>
                </a:solidFill>
                <a:latin typeface="Segoe UI"/>
              </a:defRPr>
            </a:pPr>
            <a:r>
              <a:t>Normalization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206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8 different REST schemas + 7 telemetry schemas → Single unified event format</a:t>
            </a:r>
            <a:br/>
            <a:r>
              <a:t>Published to RabbitMQ with routing key: events.sensor.{sensor_id}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8/24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DE85EBF-07D7-4BB8-9020-8D77FD7A6CC1}"/>
              </a:ext>
            </a:extLst>
          </p:cNvPr>
          <p:cNvSpPr/>
          <p:nvPr/>
        </p:nvSpPr>
        <p:spPr>
          <a:xfrm>
            <a:off x="652272" y="54864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rPr sz="4800" dirty="0"/>
              <a:t>Raw Data to JSON</a:t>
            </a:r>
            <a:r>
              <a:rPr lang="it-IT" sz="4800" dirty="0"/>
              <a:t> </a:t>
            </a:r>
            <a:r>
              <a:rPr sz="4800" dirty="0"/>
              <a:t>(Normalization)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32096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rPr dirty="0"/>
              <a:t>Standardizing Telemetry and Events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0300" y="2011680"/>
            <a:ext cx="4572000" cy="420624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F4444"/>
                </a:solidFill>
                <a:latin typeface="Segoe UI"/>
              </a:defRPr>
            </a:pPr>
            <a:r>
              <a:t>Raw Telemetry (Varies)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Courier New"/>
              </a:defRPr>
            </a:pPr>
            <a:r>
              <a:rPr dirty="0"/>
              <a:t>{</a:t>
            </a:r>
            <a:br>
              <a:rPr dirty="0"/>
            </a:br>
            <a:r>
              <a:rPr dirty="0"/>
              <a:t>  "sensor": "DHT22",</a:t>
            </a:r>
            <a:br>
              <a:rPr dirty="0"/>
            </a:br>
            <a:r>
              <a:rPr dirty="0"/>
              <a:t>  "data": {</a:t>
            </a:r>
            <a:br>
              <a:rPr dirty="0"/>
            </a:br>
            <a:r>
              <a:rPr dirty="0"/>
              <a:t>    "temp": 39.99,</a:t>
            </a:r>
            <a:br>
              <a:rPr dirty="0"/>
            </a:br>
            <a:r>
              <a:rPr dirty="0"/>
              <a:t>    "flow": 12.0</a:t>
            </a:r>
            <a:br>
              <a:rPr dirty="0"/>
            </a:br>
            <a:r>
              <a:rPr dirty="0"/>
              <a:t>  }</a:t>
            </a:r>
            <a:br>
              <a:rPr dirty="0"/>
            </a:br>
            <a:r>
              <a:rPr dirty="0"/>
              <a:t>}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450900" y="3886200"/>
            <a:ext cx="731520" cy="457200"/>
          </a:xfrm>
          <a:prstGeom prst="rightArrow">
            <a:avLst/>
          </a:prstGeom>
          <a:solidFill>
            <a:srgbClr val="8B5C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537960" y="2011680"/>
            <a:ext cx="4846320" cy="420624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0B981"/>
                </a:solidFill>
                <a:latin typeface="Segoe UI"/>
              </a:defRPr>
            </a:pPr>
            <a:r>
              <a:t>Unified Event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834640"/>
            <a:ext cx="4389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FFFFF"/>
                </a:solidFill>
                <a:latin typeface="Courier New"/>
              </a:defRPr>
            </a:pPr>
            <a:r>
              <a:rPr dirty="0"/>
              <a:t>{</a:t>
            </a:r>
            <a:br>
              <a:rPr dirty="0"/>
            </a:br>
            <a:r>
              <a:rPr dirty="0"/>
              <a:t>  "</a:t>
            </a:r>
            <a:r>
              <a:rPr dirty="0" err="1"/>
              <a:t>event_id</a:t>
            </a:r>
            <a:r>
              <a:rPr dirty="0"/>
              <a:t>": "evt_101",</a:t>
            </a:r>
            <a:br>
              <a:rPr dirty="0"/>
            </a:br>
            <a:r>
              <a:rPr dirty="0"/>
              <a:t>  "</a:t>
            </a:r>
            <a:r>
              <a:rPr dirty="0" err="1"/>
              <a:t>sensor_id</a:t>
            </a:r>
            <a:r>
              <a:rPr dirty="0"/>
              <a:t>": "</a:t>
            </a:r>
            <a:r>
              <a:rPr dirty="0" err="1"/>
              <a:t>thermal_loop</a:t>
            </a:r>
            <a:r>
              <a:rPr dirty="0"/>
              <a:t>",</a:t>
            </a:r>
            <a:br>
              <a:rPr dirty="0"/>
            </a:br>
            <a:r>
              <a:rPr dirty="0"/>
              <a:t>  "timestamp": "2026-03-10T12:00:00Z",</a:t>
            </a:r>
            <a:br>
              <a:rPr dirty="0"/>
            </a:br>
            <a:r>
              <a:rPr dirty="0"/>
              <a:t>  "metric": "</a:t>
            </a:r>
            <a:r>
              <a:rPr dirty="0" err="1"/>
              <a:t>temperature_c</a:t>
            </a:r>
            <a:r>
              <a:rPr dirty="0"/>
              <a:t>",</a:t>
            </a:r>
            <a:br>
              <a:rPr dirty="0"/>
            </a:br>
            <a:r>
              <a:rPr dirty="0"/>
              <a:t>  "value": 39.99,</a:t>
            </a:r>
            <a:br>
              <a:rPr dirty="0"/>
            </a:br>
            <a:r>
              <a:rPr dirty="0"/>
              <a:t>  "unit": "C",</a:t>
            </a:r>
            <a:br>
              <a:rPr dirty="0"/>
            </a:br>
            <a:r>
              <a:rPr dirty="0"/>
              <a:t>  "source": "</a:t>
            </a:r>
            <a:r>
              <a:rPr dirty="0" err="1"/>
              <a:t>sse</a:t>
            </a:r>
            <a:r>
              <a:rPr dirty="0"/>
              <a:t>",</a:t>
            </a:r>
            <a:br>
              <a:rPr dirty="0"/>
            </a:br>
            <a:r>
              <a:rPr dirty="0"/>
              <a:t>  "status": "warning"</a:t>
            </a:r>
            <a:br>
              <a:rPr dirty="0"/>
            </a:br>
            <a:r>
              <a:rPr dirty="0"/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9/24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923756-3B11-60ED-ED8C-63056EDF95AF}"/>
              </a:ext>
            </a:extLst>
          </p:cNvPr>
          <p:cNvSpPr/>
          <p:nvPr/>
        </p:nvSpPr>
        <p:spPr>
          <a:xfrm>
            <a:off x="650300" y="461218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rPr dirty="0"/>
              <a:t>In-Memory Cache &amp;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 i="0">
                <a:solidFill>
                  <a:srgbClr val="FFFFFF"/>
                </a:solidFill>
                <a:latin typeface="Segoe UI"/>
              </a:defRPr>
            </a:pPr>
            <a:r>
              <a:rPr dirty="0"/>
              <a:t>Ingestion service maintains the latest values for every sensor, exposed via GET /sensors/latest</a:t>
            </a:r>
            <a:r>
              <a:rPr lang="it-IT" dirty="0"/>
              <a:t> </a:t>
            </a:r>
            <a:r>
              <a:rPr dirty="0"/>
              <a:t>to the frontend with real-time updates.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10698480" cy="384048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25603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Event Mapping Strategies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59E0B"/>
                </a:solidFill>
                <a:latin typeface="Courier New"/>
              </a:defRPr>
            </a:pPr>
            <a:r>
              <a:t>rest.scalar.v1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3200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3200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1 direct event (1:1 mapping)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9359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59E0B"/>
                </a:solidFill>
                <a:latin typeface="Courier New"/>
              </a:defRPr>
            </a:pPr>
            <a:r>
              <a:t>rest.chemistry.v1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35935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35935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1 event per measurement in the measurements array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98678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59E0B"/>
                </a:solidFill>
                <a:latin typeface="Courier New"/>
              </a:defRPr>
            </a:pPr>
            <a:r>
              <a:t>rest.particulate.v1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9867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3986784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3 separated events (PM1, PM2.5, PM10)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7997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59E0B"/>
                </a:solidFill>
                <a:latin typeface="Courier New"/>
              </a:defRPr>
            </a:pPr>
            <a:r>
              <a:t>rest.level.v1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37997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43799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2 events (level_pct in % and level_liters in 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79" y="4773168"/>
            <a:ext cx="556648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59E0B"/>
                </a:solidFill>
                <a:latin typeface="Courier New"/>
              </a:defRPr>
            </a:pPr>
            <a:r>
              <a:rPr dirty="0"/>
              <a:t>topic.power.v1</a:t>
            </a:r>
            <a:r>
              <a:rPr lang="it-IT" dirty="0"/>
              <a:t>/</a:t>
            </a:r>
            <a:r>
              <a:rPr dirty="0"/>
              <a:t>environment.v1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47731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47731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1 event per metric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166359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59E0B"/>
                </a:solidFill>
                <a:latin typeface="Courier New"/>
              </a:defRPr>
            </a:pPr>
            <a:r>
              <a:t>topic.thermal_loop.v1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16635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516635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2 events (temperature_c, flow_l_min)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559551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59E0B"/>
                </a:solidFill>
                <a:latin typeface="Courier New"/>
              </a:defRPr>
            </a:pPr>
            <a:r>
              <a:t>topic.airlock.v1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555955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5559551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1 event (last_state encoded as status)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10/24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AFA436-249D-89C4-AF36-88FA4F7CC618}"/>
              </a:ext>
            </a:extLst>
          </p:cNvPr>
          <p:cNvSpPr/>
          <p:nvPr/>
        </p:nvSpPr>
        <p:spPr>
          <a:xfrm>
            <a:off x="650300" y="54864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Automation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Event-Driven Rule Processing</a:t>
            </a:r>
          </a:p>
        </p:txBody>
      </p:sp>
      <p:sp>
        <p:nvSpPr>
          <p:cNvPr id="6" name="Oval 5"/>
          <p:cNvSpPr/>
          <p:nvPr/>
        </p:nvSpPr>
        <p:spPr>
          <a:xfrm>
            <a:off x="1280160" y="194310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80160" y="19659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A0A0A"/>
                </a:solidFill>
                <a:latin typeface="Segoe UI"/>
              </a:defRPr>
            </a:pPr>
            <a:r>
              <a:rPr dirty="0"/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Receive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RabbitMQ</a:t>
            </a:r>
            <a:br/>
            <a:r>
              <a:t>event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23160" y="2103120"/>
            <a:ext cx="365760" cy="22860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566159" y="192024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66159" y="19659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A0A0A"/>
                </a:solidFill>
                <a:latin typeface="Segoe UI"/>
              </a:defRPr>
            </a:pPr>
            <a:r>
              <a:rPr dirty="0"/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Parse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926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Extract</a:t>
            </a:r>
            <a:br/>
            <a:r>
              <a:t>sensor_id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709160" y="2103120"/>
            <a:ext cx="365760" cy="22860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806439" y="192024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827058" y="19659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A0A0A"/>
                </a:solidFill>
                <a:latin typeface="Segoe UI"/>
              </a:defRPr>
            </a:pPr>
            <a:r>
              <a:rPr dirty="0"/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2926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Find rules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995160" y="2103120"/>
            <a:ext cx="365760" cy="22860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138160" y="1942204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38160" y="1985085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A0A0A"/>
                </a:solidFill>
                <a:latin typeface="Segoe UI"/>
              </a:defRPr>
            </a:pPr>
            <a:r>
              <a:rPr dirty="0"/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Evaluate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2926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Check</a:t>
            </a:r>
            <a:br/>
            <a:r>
              <a:t>condition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281160" y="2103120"/>
            <a:ext cx="365760" cy="22860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424159" y="1921435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424159" y="19659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A0A0A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Execute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2926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Publish</a:t>
            </a:r>
            <a:br/>
            <a:r>
              <a:t>command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3931920"/>
            <a:ext cx="10698480" cy="219456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0B981"/>
                </a:solidFill>
                <a:latin typeface="Segoe UI"/>
              </a:defRPr>
            </a:pPr>
            <a:r>
              <a:t>IF-THEN Rule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572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FFFFFF"/>
                </a:solidFill>
                <a:latin typeface="Segoe UI"/>
              </a:defRPr>
            </a:pPr>
            <a:r>
              <a:t>IF &lt;sensor_id&gt; &lt;operator&gt; &lt;value&gt; THEN set &lt;actuator_id&gt; to ON | OFF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2120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Operators:  &lt;   &lt;=   =   &gt;   &gt;=   •   Example: IF greenhouse_temperature &gt; 28 THEN set cooling_fan to 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11/24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D14571F-A54F-4297-F827-ACF10EDACD3E}"/>
              </a:ext>
            </a:extLst>
          </p:cNvPr>
          <p:cNvSpPr/>
          <p:nvPr/>
        </p:nvSpPr>
        <p:spPr>
          <a:xfrm>
            <a:off x="652272" y="54864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Frontend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React 18 + TypeScript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Vite 6 Build 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React Router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Tailwind CSS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Recharts for Charts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rPr dirty="0"/>
              <a:t>• Radix UI Components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2801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Application Pages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7373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Sensors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51439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rPr dirty="0"/>
              <a:t>REST sensors dashboard with real-time updates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148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Telemetry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148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Streaming data visualization with charts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5603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Actuators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560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Device control and command history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971800"/>
            <a:ext cx="18497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rPr dirty="0"/>
              <a:t>Rule Builder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71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Create and edit automation rules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Rules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383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List, enable/disable, delete rules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794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794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System health and notification log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297680"/>
            <a:ext cx="10698480" cy="18288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Real-Time 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487" y="50292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rPr dirty="0"/>
              <a:t>Server-Sent Events (SSE) for live notifications  •  Aggressive polling for sensor updates</a:t>
            </a:r>
            <a:br>
              <a:rPr dirty="0"/>
            </a:br>
            <a:r>
              <a:rPr dirty="0"/>
              <a:t>React state management for instant UI feedback  •  Recharts for live data visualization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12/24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BF0776B-8405-37F6-1920-E91D0E5BFDFC}"/>
              </a:ext>
            </a:extLst>
          </p:cNvPr>
          <p:cNvSpPr/>
          <p:nvPr/>
        </p:nvSpPr>
        <p:spPr>
          <a:xfrm>
            <a:off x="652272" y="54864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rPr kumimoji="0" sz="4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Sensors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6377" y="1041746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6B6B8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Real-time REST sensor monitoring with status indicators</a:t>
            </a:r>
          </a:p>
        </p:txBody>
      </p:sp>
      <p:pic>
        <p:nvPicPr>
          <p:cNvPr id="6" name="Picture 5" descr="01 Sens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7132" y="1739877"/>
            <a:ext cx="8945592" cy="4419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6B6B8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11/22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41D0D0-24FF-96D2-BAFE-5BA9FF26F664}"/>
              </a:ext>
            </a:extLst>
          </p:cNvPr>
          <p:cNvSpPr/>
          <p:nvPr/>
        </p:nvSpPr>
        <p:spPr>
          <a:xfrm>
            <a:off x="621792" y="41148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rPr kumimoji="0" sz="4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Telemetry Streaming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6B6B8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SSE-powered live data visualization</a:t>
            </a:r>
          </a:p>
        </p:txBody>
      </p:sp>
      <p:pic>
        <p:nvPicPr>
          <p:cNvPr id="6" name="Picture 5" descr="02 Tele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3051" y="1740508"/>
            <a:ext cx="8945592" cy="44199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6B6B8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12/22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921D5D-617A-23F4-22E1-3CBEF8E321D8}"/>
              </a:ext>
            </a:extLst>
          </p:cNvPr>
          <p:cNvSpPr/>
          <p:nvPr/>
        </p:nvSpPr>
        <p:spPr>
          <a:xfrm>
            <a:off x="621792" y="41148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rPr kumimoji="0" sz="4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Actuator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93007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6B6B8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Manual control and command history audit trail</a:t>
            </a:r>
          </a:p>
        </p:txBody>
      </p:sp>
      <p:pic>
        <p:nvPicPr>
          <p:cNvPr id="6" name="Picture 5" descr="03 Actua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347" y="1620254"/>
            <a:ext cx="8986999" cy="44404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6B6B8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13/22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DDCB29E-FE9A-00E1-0344-19BAD6A6D021}"/>
              </a:ext>
            </a:extLst>
          </p:cNvPr>
          <p:cNvSpPr/>
          <p:nvPr/>
        </p:nvSpPr>
        <p:spPr>
          <a:xfrm>
            <a:off x="652272" y="389626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rPr kumimoji="0" sz="4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Rule Builder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6B6B8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Create IF-THEN automation rules visually</a:t>
            </a:r>
          </a:p>
        </p:txBody>
      </p:sp>
      <p:pic>
        <p:nvPicPr>
          <p:cNvPr id="6" name="Picture 5" descr="04 rule Bui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4823" y="1564421"/>
            <a:ext cx="7762048" cy="45521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6B6B8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14/22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D09FF2-4829-9520-B9A3-8836607E3D01}"/>
              </a:ext>
            </a:extLst>
          </p:cNvPr>
          <p:cNvSpPr/>
          <p:nvPr/>
        </p:nvSpPr>
        <p:spPr>
          <a:xfrm>
            <a:off x="652272" y="41148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rPr kumimoji="0" sz="4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Rules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91583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6B6B8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List, toggle, edit, and delete automation rules</a:t>
            </a:r>
          </a:p>
        </p:txBody>
      </p:sp>
      <p:pic>
        <p:nvPicPr>
          <p:cNvPr id="6" name="Picture 5" descr="05 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643" y="1894145"/>
            <a:ext cx="9342408" cy="38926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6B6B8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15/22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C6DF6F-1D9F-B856-4F6B-3A19BF0CCC83}"/>
              </a:ext>
            </a:extLst>
          </p:cNvPr>
          <p:cNvSpPr/>
          <p:nvPr/>
        </p:nvSpPr>
        <p:spPr>
          <a:xfrm>
            <a:off x="676656" y="40005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rPr kumimoji="0" sz="4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System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6B6B8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Health monitoring and notification center</a:t>
            </a:r>
          </a:p>
        </p:txBody>
      </p:sp>
      <p:pic>
        <p:nvPicPr>
          <p:cNvPr id="6" name="Picture 5" descr="06 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4976" y="1541144"/>
            <a:ext cx="7731568" cy="45986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6B6B8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16/22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AE04EB-28EB-14E2-A774-BE3FBAB4045C}"/>
              </a:ext>
            </a:extLst>
          </p:cNvPr>
          <p:cNvSpPr/>
          <p:nvPr/>
        </p:nvSpPr>
        <p:spPr>
          <a:xfrm>
            <a:off x="621792" y="41148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Database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657600" cy="493776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0D4FF"/>
                </a:solidFill>
                <a:latin typeface="Segoe UI"/>
              </a:defRPr>
            </a:pPr>
            <a:r>
              <a:t>automation_rules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3108960" cy="182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id (SERIAL PK)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3347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name, description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98094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sensor_id, operator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284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rPr dirty="0"/>
              <a:t>• </a:t>
            </a:r>
            <a:r>
              <a:rPr dirty="0" err="1"/>
              <a:t>threshold_value</a:t>
            </a:r>
            <a:r>
              <a:rPr dirty="0"/>
              <a:t>, </a:t>
            </a:r>
            <a:r>
              <a:rPr dirty="0" err="1"/>
              <a:t>threshold_unit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73152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actuator_id, actuator_action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233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is_active (BOOLEAN)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70831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created_at, updated_at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1371600"/>
            <a:ext cx="3657600" cy="493776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8912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Segoe UI"/>
              </a:defRPr>
            </a:pPr>
            <a:r>
              <a:t>sensor_readings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59" y="2103120"/>
            <a:ext cx="3108960" cy="182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80559" y="2286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id (BIGSERIAL PK)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59" y="263347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sensor_id (VARCHAR)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59" y="298094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value (DECIMAL)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59" y="33284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unit (VARCHAR)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59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source (rest/stream)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59" y="40233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recorded_at (TIMESTAMP)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4370831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created_at (TIMESTAMP)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9" y="1371600"/>
            <a:ext cx="3657600" cy="493776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38159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59E0B"/>
                </a:solidFill>
                <a:latin typeface="Segoe UI"/>
              </a:defRPr>
            </a:pPr>
            <a:r>
              <a:t>actuator_commands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2103120"/>
            <a:ext cx="310896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0" y="2286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id (BIGSERIAL PK)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63347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actuator_id (VARCHAR)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98094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previous_state, new_state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33284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source (auto/manual)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reason (TEXT)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0233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rule_id (FK)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4370831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executed_at (TIMESTAMP)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19/24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F1AE673-D8C1-8D9F-7E7E-17E40AC8A8F3}"/>
              </a:ext>
            </a:extLst>
          </p:cNvPr>
          <p:cNvSpPr/>
          <p:nvPr/>
        </p:nvSpPr>
        <p:spPr>
          <a:xfrm>
            <a:off x="640080" y="530352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Data Flow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2011680" cy="146304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4688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59E0B"/>
                </a:solidFill>
                <a:latin typeface="Segoe UI"/>
              </a:defRPr>
            </a:pPr>
            <a:r>
              <a:t>IoT Simulator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905" y="2933251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rPr dirty="0"/>
              <a:t>REST API</a:t>
            </a:r>
            <a:br>
              <a:rPr dirty="0"/>
            </a:br>
            <a:r>
              <a:rPr dirty="0"/>
              <a:t>SSE Streams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06040" y="2880360"/>
            <a:ext cx="27432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834640" y="2286000"/>
            <a:ext cx="2011680" cy="146304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0" y="24688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0D4FF"/>
                </a:solidFill>
                <a:latin typeface="Segoe UI"/>
              </a:defRPr>
            </a:pPr>
            <a:r>
              <a:t>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5904" y="2933251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rPr dirty="0"/>
              <a:t>Normalize</a:t>
            </a:r>
            <a:br>
              <a:rPr dirty="0"/>
            </a:br>
            <a:r>
              <a:rPr dirty="0"/>
              <a:t>Events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92040" y="2880360"/>
            <a:ext cx="27432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120640" y="2286000"/>
            <a:ext cx="2011680" cy="146304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12079" y="24688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59E0B"/>
                </a:solidFill>
                <a:latin typeface="Segoe UI"/>
              </a:defRPr>
            </a:pPr>
            <a:r>
              <a:t>RabbitMQ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79" y="292607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Route</a:t>
            </a:r>
            <a:br/>
            <a:r>
              <a:t>Events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178040" y="2880360"/>
            <a:ext cx="27432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06640" y="2286000"/>
            <a:ext cx="2011680" cy="146304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79" y="24688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Segoe UI"/>
              </a:defRPr>
            </a:pPr>
            <a:r>
              <a:t>Consumers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92607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rPr dirty="0"/>
              <a:t>Process &amp;</a:t>
            </a:r>
            <a:br>
              <a:rPr dirty="0"/>
            </a:br>
            <a:r>
              <a:rPr dirty="0"/>
              <a:t>Store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464040" y="2880360"/>
            <a:ext cx="27432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692640" y="2286000"/>
            <a:ext cx="2011680" cy="146304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84080" y="24688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0B981"/>
                </a:solidFill>
                <a:latin typeface="Segoe UI"/>
              </a:defRPr>
            </a:pPr>
            <a:r>
              <a:t>Frontend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292607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rPr dirty="0"/>
              <a:t>Display &amp;</a:t>
            </a:r>
            <a:br>
              <a:rPr dirty="0"/>
            </a:br>
            <a:r>
              <a:rPr dirty="0"/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8463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Event Routing Keys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349240"/>
            <a:ext cx="54864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868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Sensor Events: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669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events.sensor.{sensor_id}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0" y="5349240"/>
            <a:ext cx="54864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2628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Actuator Commands: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69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commands.actuator.{actuator_id}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0" y="5349240"/>
            <a:ext cx="54864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18388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Notifications: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80" y="5669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events.#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20/24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C869547-A03F-39C9-2C6D-9FF51C6018CF}"/>
              </a:ext>
            </a:extLst>
          </p:cNvPr>
          <p:cNvSpPr/>
          <p:nvPr/>
        </p:nvSpPr>
        <p:spPr>
          <a:xfrm>
            <a:off x="613963" y="54864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474720" cy="484632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rPr dirty="0"/>
              <a:t>Backend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Python 3.11+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FastAPI (Async)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7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aio-pika (RabbitMQ)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asyncpg + SQLAlchemy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59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httpx (HTTP Client)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2335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Pydantic (Validation)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Uvicorn (ASGI)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371600"/>
            <a:ext cx="3474720" cy="484632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17720" y="1554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8B5CF6"/>
                </a:solidFill>
                <a:latin typeface="Segoe UI"/>
              </a:defRPr>
            </a:pPr>
            <a:r>
              <a:rPr dirty="0"/>
              <a:t>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194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React 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560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TypeScript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292607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Vite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32918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React Router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365759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Tailwind CSS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402335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Recharts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Radix UI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1371600"/>
            <a:ext cx="3474720" cy="484632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03920" y="1554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9E0B"/>
                </a:solidFill>
                <a:latin typeface="Segoe UI"/>
              </a:defRPr>
            </a:pPr>
            <a:r>
              <a:rPr dirty="0"/>
              <a:t>Infrastructure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2194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PostgreSQL 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2560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RabbitMQ (AMQP)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92607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Docker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32918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Docker Compose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365759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Nginx (Reverse Proxy)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2976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Containerized</a:t>
            </a:r>
            <a:br/>
            <a:r>
              <a:t>Microservices</a:t>
            </a:r>
            <a:br/>
            <a:r>
              <a:t>with</a:t>
            </a:r>
            <a:br/>
            <a:r>
              <a:t>Event-Driven</a:t>
            </a:r>
            <a:br/>
            <a:r>
              <a:t>Architecture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21/24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ECB7B39-9E37-EE14-4678-33D5CF5311D9}"/>
              </a:ext>
            </a:extLst>
          </p:cNvPr>
          <p:cNvSpPr/>
          <p:nvPr/>
        </p:nvSpPr>
        <p:spPr>
          <a:xfrm>
            <a:off x="621792" y="54864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Key User Stories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2651760" cy="50292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65176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031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Real-time sensor values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9747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Live telemetry from 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29183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Automatic dashboard updates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8862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Status indicators (ok/warning)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480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Sensor filtering by category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280160"/>
            <a:ext cx="2651760" cy="50292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83280" y="1280160"/>
            <a:ext cx="265176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4720" y="14630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8B5CF6"/>
                </a:solidFill>
                <a:latin typeface="Segoe UI"/>
              </a:defRPr>
            </a:pPr>
            <a:r>
              <a:t>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1031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View actuator ON/OFF states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69747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Manual actuator toggle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329183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Automatic rule-based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862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Command history audit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280160"/>
            <a:ext cx="2651760" cy="50292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09360" y="1280160"/>
            <a:ext cx="26517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14630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10B981"/>
                </a:solidFill>
                <a:latin typeface="Segoe UI"/>
              </a:defRPr>
            </a:pPr>
            <a:r>
              <a:t>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1031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Create IF-THEN rules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69747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View all automation rules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29183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Edit existing rules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8862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Delete/enable/disable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480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Real-time trigger alerts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35440" y="1280160"/>
            <a:ext cx="2651760" cy="50292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235440" y="1280160"/>
            <a:ext cx="265176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326880" y="14630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59E0B"/>
                </a:solidFill>
                <a:latin typeface="Segoe UI"/>
              </a:defRPr>
            </a:pPr>
            <a:r>
              <a:t>Analytics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21031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Live time charts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269747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Historical data queries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600" y="329183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System health summary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72600" y="38862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Connectivity monitoring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22/24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A2014A2-56FA-2B08-F1B6-567D966BCE38}"/>
              </a:ext>
            </a:extLst>
          </p:cNvPr>
          <p:cNvSpPr/>
          <p:nvPr/>
        </p:nvSpPr>
        <p:spPr>
          <a:xfrm>
            <a:off x="652272" y="54864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0B981"/>
                </a:solidFill>
                <a:latin typeface="Segoe UI"/>
              </a:defRPr>
            </a:pPr>
            <a:r>
              <a:t>Project Achievements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304288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Distributed microservices architecture with event-driven communication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74320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63347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Real-time monitoring and control of simulated Mars habitat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18211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3072384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IF-THEN automation rules with automatic actuator control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621024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3511296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Modern React dashboard with SSE-based live updates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4059936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9502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Containerized deployment with Docker Compose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498848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3891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Unified event schema for heterogeneous data 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8B5CF6"/>
                </a:solidFill>
                <a:latin typeface="Segoe UI"/>
              </a:defRPr>
            </a:pPr>
            <a:r>
              <a:t>Future Enhancements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94960"/>
            <a:ext cx="25340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rPr dirty="0"/>
              <a:t>→ Machine Learning: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8424" y="54269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Predictive maintenance and anomaly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60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→ Mobile App: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8424" y="57607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Remote monitoring and push notifications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2617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rPr dirty="0"/>
              <a:t>→ Advanced Alerting: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48424" y="6126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rPr dirty="0"/>
              <a:t>Email/SMS notifications for critical events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23/24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16C60D9-D197-7885-A5A7-C8D3F76D7444}"/>
              </a:ext>
            </a:extLst>
          </p:cNvPr>
          <p:cNvSpPr/>
          <p:nvPr/>
        </p:nvSpPr>
        <p:spPr>
          <a:xfrm>
            <a:off x="640558" y="64008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0">
                <a:solidFill>
                  <a:srgbClr val="FFFFFF"/>
                </a:solidFill>
                <a:latin typeface="Segoe UI Light"/>
              </a:defRPr>
            </a:pPr>
            <a: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114800"/>
            <a:ext cx="210312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9494B0"/>
                </a:solidFill>
                <a:latin typeface="Segoe UI"/>
              </a:defRPr>
            </a:pPr>
            <a:r>
              <a:t>Deda Daniel  •  Macrì Francesco  •  Pagliarini Paolo  •  Torresi Flavio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10698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rPr dirty="0"/>
              <a:t>Laboratory of Advanced Programming – Hackathon Exam 202</a:t>
            </a:r>
            <a:r>
              <a:rPr lang="it-IT" dirty="0"/>
              <a:t>5</a:t>
            </a:r>
            <a:r>
              <a:rPr dirty="0"/>
              <a:t>/202</a:t>
            </a:r>
            <a:r>
              <a:rPr lang="it-IT"/>
              <a:t>6</a:t>
            </a: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24/24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1475</Words>
  <Application>Microsoft Office PowerPoint</Application>
  <PresentationFormat>Widescreen</PresentationFormat>
  <Paragraphs>310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Deda</cp:lastModifiedBy>
  <cp:revision>4</cp:revision>
  <dcterms:created xsi:type="dcterms:W3CDTF">2013-01-27T09:14:16Z</dcterms:created>
  <dcterms:modified xsi:type="dcterms:W3CDTF">2026-03-10T14:29:38Z</dcterms:modified>
  <cp:category/>
</cp:coreProperties>
</file>