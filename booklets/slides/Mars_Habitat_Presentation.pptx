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rPr dirty="0"/>
              <a:t>Mars Habitat Automation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6607" y="3383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Distributed Event-Driven System for Habitat Monitoring &amp;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87087" y="4608576"/>
            <a:ext cx="30175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6607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Deda Daniel  •  </a:t>
            </a:r>
            <a:r>
              <a:rPr dirty="0" err="1"/>
              <a:t>Macrì</a:t>
            </a:r>
            <a:r>
              <a:rPr dirty="0"/>
              <a:t> Francesco  •  Pagliarini Paolo  •  </a:t>
            </a:r>
            <a:r>
              <a:rPr dirty="0" err="1"/>
              <a:t>Torresi</a:t>
            </a:r>
            <a:r>
              <a:rPr dirty="0"/>
              <a:t>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Laboratory of Advanced Programming – Hackathon Exam 202</a:t>
            </a:r>
            <a:r>
              <a:rPr lang="it-IT"/>
              <a:t>5/2026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6607" y="3456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70494" y="515572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65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Problem statement and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Microservices and event-driven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REST polling and SSE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233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IF-THEN rule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91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dashboard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949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Tools and frameworks 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760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60807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Achievements and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2/22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59436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A Mars habitat's automation stack has partially failed, leaving devices operating with incompatible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Multiple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sensors, SSE streams, WebSocket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922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Heterogeneous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Different payload schemas requiring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Immediate response to environmental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922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Rules-based actuator control for habitat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3/22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59436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distributed event-driven platform with unified monitoring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Unified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REST polling + SSE streams normalized to single event 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Event-Driven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RabbitMQ message broker for decoupled microservices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54864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Smart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IF-THEN rules with automatic actuator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40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React SPA with live updates and manual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4/22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59367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2272" y="421543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agram.png"/>
          <p:cNvPicPr>
            <a:picLocks noChangeAspect="1"/>
          </p:cNvPicPr>
          <p:nvPr/>
        </p:nvPicPr>
        <p:blipFill>
          <a:blip r:embed="rId2"/>
          <a:srcRect l="7144" t="5452" r="5402" b="4789"/>
          <a:stretch>
            <a:fillRect/>
          </a:stretch>
        </p:blipFill>
        <p:spPr>
          <a:xfrm>
            <a:off x="3692106" y="1185844"/>
            <a:ext cx="4129177" cy="549215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5/22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Microservices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0" y="150876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polling &amp; SSE streams</a:t>
            </a:r>
            <a:br/>
            <a:r>
              <a:t>Schema normalization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 evaluation</a:t>
            </a:r>
            <a:br/>
            <a:r>
              <a:t>Event-driven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966960" y="1508760"/>
            <a:ext cx="7772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Rule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CRUD API for automation</a:t>
            </a:r>
            <a:br/>
            <a:r>
              <a:t>rules persistence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017520" y="3977640"/>
            <a:ext cx="77724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01752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Notification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SSE alerts</a:t>
            </a:r>
            <a:br/>
            <a:r>
              <a:t>Event broadcasting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92240" y="3977640"/>
            <a:ext cx="77724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command execution</a:t>
            </a:r>
            <a:br/>
            <a:r>
              <a:t>Audit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966960" y="397764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6696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Historical queries</a:t>
            </a:r>
            <a:br/>
            <a:r>
              <a:t>In-memory 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6/22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FBDABBD-6981-32E1-150A-E160302EF1E4}"/>
              </a:ext>
            </a:extLst>
          </p:cNvPr>
          <p:cNvSpPr/>
          <p:nvPr/>
        </p:nvSpPr>
        <p:spPr>
          <a:xfrm>
            <a:off x="65227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Infrastructure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39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59E0B"/>
                </a:solidFill>
                <a:latin typeface="Segoe UI"/>
              </a:defRPr>
            </a:pPr>
            <a:r>
              <a:rPr sz="2400" dirty="0"/>
              <a:t>RabbitMQ Message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39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AMQP protocol (port 5672)</a:t>
            </a:r>
            <a:br/>
            <a:r>
              <a:t>• Topic exchange: mars_events</a:t>
            </a:r>
            <a:br/>
            <a:r>
              <a:t>• Event-driven pub/sub architecture</a:t>
            </a:r>
            <a:br/>
            <a:r>
              <a:t>• Durable queues with TTL</a:t>
            </a:r>
            <a:br/>
            <a:r>
              <a:t>• Management UI on port 15672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1282" y="1463039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rPr sz="2400" dirty="0"/>
              <a:t>PostgreSQL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39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• PostgreSQL 16 (port 5433)</a:t>
            </a:r>
            <a:br>
              <a:rPr dirty="0"/>
            </a:br>
            <a:r>
              <a:rPr dirty="0"/>
              <a:t>• </a:t>
            </a:r>
            <a:r>
              <a:rPr dirty="0" err="1"/>
              <a:t>automation_rules</a:t>
            </a:r>
            <a:r>
              <a:rPr dirty="0"/>
              <a:t> table</a:t>
            </a:r>
            <a:br>
              <a:rPr dirty="0"/>
            </a:br>
            <a:r>
              <a:rPr dirty="0"/>
              <a:t>• </a:t>
            </a:r>
            <a:r>
              <a:rPr dirty="0" err="1"/>
              <a:t>sensor_readings</a:t>
            </a:r>
            <a:r>
              <a:rPr dirty="0"/>
              <a:t> history</a:t>
            </a:r>
            <a:br>
              <a:rPr dirty="0"/>
            </a:br>
            <a:r>
              <a:rPr dirty="0"/>
              <a:t>• </a:t>
            </a:r>
            <a:r>
              <a:rPr dirty="0" err="1"/>
              <a:t>actuator_commands</a:t>
            </a:r>
            <a:r>
              <a:rPr dirty="0"/>
              <a:t> audit</a:t>
            </a:r>
            <a:br>
              <a:rPr dirty="0"/>
            </a:br>
            <a:r>
              <a:rPr dirty="0"/>
              <a:t>• Persistent volume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59"/>
            <a:ext cx="10698480" cy="20116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218891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rPr dirty="0"/>
              <a:t>Unified Event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80" y="475487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Segoe UI"/>
              </a:defRPr>
            </a:pPr>
            <a:r>
              <a:rPr dirty="0"/>
              <a:t>{ </a:t>
            </a:r>
            <a:r>
              <a:rPr dirty="0" err="1"/>
              <a:t>event_id</a:t>
            </a:r>
            <a:r>
              <a:rPr dirty="0"/>
              <a:t>, </a:t>
            </a:r>
            <a:r>
              <a:rPr dirty="0" err="1"/>
              <a:t>sensor_id</a:t>
            </a:r>
            <a:r>
              <a:rPr dirty="0"/>
              <a:t>, timestamp, metric, value, unit, source, status, </a:t>
            </a:r>
            <a:r>
              <a:rPr dirty="0" err="1"/>
              <a:t>raw_schema</a:t>
            </a:r>
            <a:r>
              <a:rPr dirty="0"/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1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All sensor data normalized to a single format • REST polls + SSE streams → unified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7/22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5E48C4-FB15-3214-3D88-1376312EB933}"/>
              </a:ext>
            </a:extLst>
          </p:cNvPr>
          <p:cNvSpPr/>
          <p:nvPr/>
        </p:nvSpPr>
        <p:spPr>
          <a:xfrm>
            <a:off x="652272" y="50292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Ingestion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rPr dirty="0"/>
              <a:t>REST Sensors (Polling)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greenhouse_temperature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entrance_humidity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05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co2_hall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980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hydroponic_ph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water_tank_level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corridor_pressure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758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air_quality_pm25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air_quality_voc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Telemetry Streams (SSE)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solar_array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life_support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9806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thermal_loop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906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power_consumption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airlock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Normalization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8 different REST schemas + 7 telemetry schemas → Single unified event format</a:t>
            </a:r>
            <a:br/>
            <a:r>
              <a:t>Published to RabbitMQ with routing key: events.sensor.{sensor_id}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8/22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D4780E-EC49-5945-D7AD-6E460B29B796}"/>
              </a:ext>
            </a:extLst>
          </p:cNvPr>
          <p:cNvSpPr/>
          <p:nvPr/>
        </p:nvSpPr>
        <p:spPr>
          <a:xfrm>
            <a:off x="652272" y="489204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Event-Driven Rule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RabbitMQ</a:t>
            </a:r>
            <a:br/>
            <a:r>
              <a:t>event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23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Extract</a:t>
            </a:r>
            <a:br/>
            <a:r>
              <a:t>sensor_id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09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623559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59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Find rules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95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Check</a:t>
            </a:r>
            <a:br/>
            <a:r>
              <a:t>condition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81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195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95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Publish</a:t>
            </a:r>
            <a:br/>
            <a:r>
              <a:t>command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IF-THEN Rule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FFFFFF"/>
                </a:solidFill>
                <a:latin typeface="Segoe UI"/>
              </a:defRPr>
            </a:pPr>
            <a:r>
              <a:t>IF &lt;sensor_id&gt; &lt;operator&gt; &lt;value&gt; THEN set &lt;actuator_id&gt; to ON | 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Operators:  &lt;   &lt;=   =   &gt;   &gt;=   •   Example: IF greenhouse_temperature &gt; 28 THEN set cooling_fan to 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9/22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5547D3-F1EC-3B70-BD37-6DE490F9F26D}"/>
              </a:ext>
            </a:extLst>
          </p:cNvPr>
          <p:cNvSpPr/>
          <p:nvPr/>
        </p:nvSpPr>
        <p:spPr>
          <a:xfrm>
            <a:off x="62179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 Build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 for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Application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7373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 dashboard with real-time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148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Streaming data visualization with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control and command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199" y="2971800"/>
            <a:ext cx="1549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Rule </a:t>
            </a:r>
            <a:r>
              <a:rPr lang="it-IT" dirty="0"/>
              <a:t>Builder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649224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Create and edit automation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List, enable/disable, delete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94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System health and notification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18288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Real-Time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Server-Sent Events (SSE) for live notifications  •  Aggressive polling for sensor updates</a:t>
            </a:r>
            <a:br/>
            <a:r>
              <a:t>React state management for instant UI feedback  •  Recharts for live data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10/22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0AF359-90CF-F120-437D-93449B5EDC3F}"/>
              </a:ext>
            </a:extLst>
          </p:cNvPr>
          <p:cNvSpPr/>
          <p:nvPr/>
        </p:nvSpPr>
        <p:spPr>
          <a:xfrm>
            <a:off x="676656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Sensors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6377" y="104174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Real-time REST sensor monitoring with status indicators</a:t>
            </a:r>
          </a:p>
        </p:txBody>
      </p:sp>
      <p:pic>
        <p:nvPicPr>
          <p:cNvPr id="6" name="Picture 5" descr="01 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132" y="1739877"/>
            <a:ext cx="8945592" cy="44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11/22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41D0D0-24FF-96D2-BAFE-5BA9FF26F664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Telemetry 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SSE-powered live data visualization</a:t>
            </a:r>
          </a:p>
        </p:txBody>
      </p:sp>
      <p:pic>
        <p:nvPicPr>
          <p:cNvPr id="6" name="Picture 5" descr="02 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051" y="1740508"/>
            <a:ext cx="8945592" cy="44199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12/22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921D5D-617A-23F4-22E1-3CBEF8E321D8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93007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Manual control and command history audit trail</a:t>
            </a:r>
          </a:p>
        </p:txBody>
      </p:sp>
      <p:pic>
        <p:nvPicPr>
          <p:cNvPr id="6" name="Picture 5" descr="03 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47" y="1620254"/>
            <a:ext cx="8986999" cy="4440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13/22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DCB29E-FE9A-00E1-0344-19BAD6A6D021}"/>
              </a:ext>
            </a:extLst>
          </p:cNvPr>
          <p:cNvSpPr/>
          <p:nvPr/>
        </p:nvSpPr>
        <p:spPr>
          <a:xfrm>
            <a:off x="652272" y="389626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Create IF-THEN automation rules visually</a:t>
            </a:r>
          </a:p>
        </p:txBody>
      </p:sp>
      <p:pic>
        <p:nvPicPr>
          <p:cNvPr id="6" name="Picture 5" descr="04 rule 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823" y="1564421"/>
            <a:ext cx="7762048" cy="45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14/22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D09FF2-4829-9520-B9A3-8836607E3D01}"/>
              </a:ext>
            </a:extLst>
          </p:cNvPr>
          <p:cNvSpPr/>
          <p:nvPr/>
        </p:nvSpPr>
        <p:spPr>
          <a:xfrm>
            <a:off x="65227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91583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List, toggle, edit, and delete automation rules</a:t>
            </a:r>
          </a:p>
        </p:txBody>
      </p:sp>
      <p:pic>
        <p:nvPicPr>
          <p:cNvPr id="6" name="Picture 5" descr="05 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43" y="1894145"/>
            <a:ext cx="9342408" cy="3892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15/22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C6DF6F-1D9F-B856-4F6B-3A19BF0CCC83}"/>
              </a:ext>
            </a:extLst>
          </p:cNvPr>
          <p:cNvSpPr/>
          <p:nvPr/>
        </p:nvSpPr>
        <p:spPr>
          <a:xfrm>
            <a:off x="676656" y="40005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System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Health monitoring and notification center</a:t>
            </a:r>
          </a:p>
        </p:txBody>
      </p:sp>
      <p:pic>
        <p:nvPicPr>
          <p:cNvPr id="6" name="Picture 5" descr="06 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976" y="1541144"/>
            <a:ext cx="7731568" cy="45986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16/22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AE04EB-28EB-14E2-A774-BE3FBAB4045C}"/>
              </a:ext>
            </a:extLst>
          </p:cNvPr>
          <p:cNvSpPr/>
          <p:nvPr/>
        </p:nvSpPr>
        <p:spPr>
          <a:xfrm>
            <a:off x="621792" y="41148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automation_rules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10896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(SERIAL 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name,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sensor_id,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threshold_value, threshold_unit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actuator_id, actuator_action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is_active (BOOLEAN)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created_at, 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sensor_readings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103120"/>
            <a:ext cx="310896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59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 (VARCHAR)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value (DECIMAL)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unit (VARCHAR)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(rest/stream)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recorded_at (TIMESTAMP)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 (TIMESTAMP)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3815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actuator_commands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103120"/>
            <a:ext cx="31089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 (VARCHAR)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previous_state, new_state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(auto/manual)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reason 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rule_id (FK)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executed_at (TIMESTAMP)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17/22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0E2A0B7-99F6-2FD8-36E6-FEC092ECAB94}"/>
              </a:ext>
            </a:extLst>
          </p:cNvPr>
          <p:cNvSpPr/>
          <p:nvPr/>
        </p:nvSpPr>
        <p:spPr>
          <a:xfrm>
            <a:off x="652272" y="530352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Flow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IoT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REST API</a:t>
            </a:r>
            <a:br/>
            <a:r>
              <a:t>SSE Streams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34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Normalize</a:t>
            </a:r>
            <a:br/>
            <a:r>
              <a:t>Events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Route</a:t>
            </a:r>
            <a:br/>
            <a:r>
              <a:t>Events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06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Process &amp;</a:t>
            </a:r>
            <a:br/>
            <a:r>
              <a:t>Store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92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Display &amp;</a:t>
            </a:r>
            <a:br/>
            <a: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Routing Keys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492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 Events: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events.sensor.{sensor_id}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534924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 Commands: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commands.actuator.{actuator_id}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534924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838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Notifications: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events.#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18/22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6BDC2F-EB72-1B69-777C-B8D9B1553349}"/>
              </a:ext>
            </a:extLst>
          </p:cNvPr>
          <p:cNvSpPr/>
          <p:nvPr/>
        </p:nvSpPr>
        <p:spPr>
          <a:xfrm>
            <a:off x="640080" y="548639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• Python</a:t>
            </a:r>
            <a:r>
              <a:rPr lang="it-IT" dirty="0"/>
              <a:t> 3.11+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FastAPI (Async)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aio-pika (RabbitMQ)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asyncpg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httpx (HTTP Client)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Pydantic (Validation)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Uvicorn (ASGI)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rPr dirty="0"/>
              <a:t>• React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RabbitMQ (AMQP)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Nginx (Reverse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2976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Containerized</a:t>
            </a:r>
            <a:br/>
            <a:r>
              <a:t>Microservices</a:t>
            </a:r>
            <a:br/>
            <a:r>
              <a:t>with</a:t>
            </a:r>
            <a:br/>
            <a:r>
              <a:t>Event-Driven</a:t>
            </a:r>
            <a:br/>
            <a:r>
              <a:t>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19/22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41ADB9-6F53-8ABE-B608-5967F65FF12D}"/>
              </a:ext>
            </a:extLst>
          </p:cNvPr>
          <p:cNvSpPr/>
          <p:nvPr/>
        </p:nvSpPr>
        <p:spPr>
          <a:xfrm>
            <a:off x="585216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Key User Stories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sensor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telemetry from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dashboard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Status indicators (ok/warning)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 filtering by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26517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actuator ON/OFF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Manual actuator toggle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rule-based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Command history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128016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 IF-THEN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all automation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Edit existing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Delete/enable/disable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trigger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235440" y="1280160"/>
            <a:ext cx="2651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time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Historical data queries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System health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Connectivity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20/22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C55A89-25A2-99C1-A77B-F92BF313F9D2}"/>
              </a:ext>
            </a:extLst>
          </p:cNvPr>
          <p:cNvSpPr/>
          <p:nvPr/>
        </p:nvSpPr>
        <p:spPr>
          <a:xfrm>
            <a:off x="621792" y="5486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rPr dirty="0"/>
              <a:t>Project Achievements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042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Distributed microservices architecture with event-driven communication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7432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6334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monitoring and control of simulated Mars habitat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821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IF-THEN automation rules with automatic actuator 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210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Modern React dashboard with SSE-based live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0599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9502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Containerized deployment with Docker Compose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49884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Unified event schema for heterogeneous data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2829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→ </a:t>
            </a:r>
            <a:r>
              <a:rPr dirty="0" err="1"/>
              <a:t>MachineLearning</a:t>
            </a:r>
            <a:r>
              <a:rPr dirty="0"/>
              <a:t>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676" y="541960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Predictive maintenance and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Mobile App: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676" y="57571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Remote monitoring and push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2582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rPr dirty="0"/>
              <a:t>→ Advanced</a:t>
            </a:r>
            <a:r>
              <a:rPr lang="it-IT" dirty="0"/>
              <a:t> </a:t>
            </a:r>
            <a:r>
              <a:rPr dirty="0"/>
              <a:t>Alerting: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676" y="6153343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Email/SMS notifications for critical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21/22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D97FD9C-9CA4-0EDC-9ECA-37AB89CFF66A}"/>
              </a:ext>
            </a:extLst>
          </p:cNvPr>
          <p:cNvSpPr/>
          <p:nvPr/>
        </p:nvSpPr>
        <p:spPr>
          <a:xfrm>
            <a:off x="676656" y="589788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rPr dirty="0"/>
              <a:t>Laboratory of Advanced Programming – Hackathon Exam 202</a:t>
            </a:r>
            <a:r>
              <a:rPr lang="it-IT" dirty="0"/>
              <a:t>5</a:t>
            </a:r>
            <a:r>
              <a:rPr dirty="0"/>
              <a:t>/202</a:t>
            </a:r>
            <a:r>
              <a:rPr lang="it-IT" dirty="0"/>
              <a:t>6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22/22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1196</Words>
  <Application>Microsoft Office PowerPoint</Application>
  <PresentationFormat>Widescreen</PresentationFormat>
  <Paragraphs>278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Deda</cp:lastModifiedBy>
  <cp:revision>4</cp:revision>
  <dcterms:created xsi:type="dcterms:W3CDTF">2013-01-27T09:14:16Z</dcterms:created>
  <dcterms:modified xsi:type="dcterms:W3CDTF">2026-03-10T12:50:12Z</dcterms:modified>
  <cp:category/>
</cp:coreProperties>
</file>