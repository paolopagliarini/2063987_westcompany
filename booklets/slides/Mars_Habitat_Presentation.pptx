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t>Mars Habitat Automation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9494B0"/>
                </a:solidFill>
                <a:latin typeface="Segoe UI"/>
              </a:defRPr>
            </a:pPr>
            <a:r>
              <a:t>Distributed Event-Driven System for Habitat Monitoring &amp;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023360"/>
            <a:ext cx="30175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t>Deda Daniel  •  Macrì Francesco  •  Pagliarini Paolo  •  Torresi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Laboratory of Advanced Programming – Hackathon Exam 2024/2025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Project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965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Problem statement and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331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51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Microservices and event-driven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Ingestion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REST polling and SSE streaming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0233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IF-THEN rule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7091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Real-time dashboard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74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949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Tools and frameworks 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607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760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608075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Achievements and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2/22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The Challenge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t>A Mars habitat's automation stack has partially failed, leaving devices operating with incompatible protocols.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Multiple Data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sensors, SSE streams, WebSocket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2608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92240" y="3200400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3154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Heterogeneous Formats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Different payload schemas requiring normalization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Requirements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86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Immediate response to environmental changes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63440"/>
            <a:ext cx="5212080" cy="155448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937759"/>
            <a:ext cx="320040" cy="3200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48920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Needs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48640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Rules-based actuator control for habitat 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3/22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9728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 i="0">
                <a:solidFill>
                  <a:srgbClr val="9494B0"/>
                </a:solidFill>
                <a:latin typeface="Segoe UI"/>
              </a:defRPr>
            </a:pPr>
            <a:r>
              <a:t>A distributed event-driven platform with unified monitoring and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6060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Unified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REST polling + SSE streams normalized to single event schema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47472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Event-Driven 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703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RabbitMQ message broker for decoupled microservices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54864" cy="365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Smart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IF-THEN rules with automatic actuator control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21208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Real-Time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440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React SPA with live updates and manual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4/22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14575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5/22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Microservices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17520" y="150876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polling &amp; SSE streams</a:t>
            </a:r>
            <a:br/>
            <a:r>
              <a:t>Schema normalization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92240" y="1508760"/>
            <a:ext cx="777240" cy="32004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Rule evaluation</a:t>
            </a:r>
            <a:br/>
            <a:r>
              <a:t>Event-driven triggers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37160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0" y="1508760"/>
            <a:ext cx="777240" cy="3200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148132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155448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Rule 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10312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CRUD API for automation</a:t>
            </a:r>
            <a:br/>
            <a:r>
              <a:t>rules persistence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017520" y="3977640"/>
            <a:ext cx="77724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1752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Notification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SSE alerts</a:t>
            </a:r>
            <a:br/>
            <a:r>
              <a:t>Event broadcasting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624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92240" y="3977640"/>
            <a:ext cx="777240" cy="32004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Device command execution</a:t>
            </a:r>
            <a:br/>
            <a:r>
              <a:t>Audit logging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0960" y="3840480"/>
            <a:ext cx="320040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66960" y="3977640"/>
            <a:ext cx="777240" cy="3200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3950208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0A0A0A"/>
                </a:solidFill>
                <a:latin typeface="Segoe UI"/>
              </a:defRPr>
            </a:pPr>
            <a:r>
              <a:t>8006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0233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FFFFF"/>
                </a:solidFill>
                <a:latin typeface="Segoe UI"/>
              </a:defRPr>
            </a:pPr>
            <a:r>
              <a:t>Data History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57200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Historical queries</a:t>
            </a:r>
            <a:br/>
            <a:r>
              <a:t>In-memory cache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6/22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Infrastructure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029200" cy="21031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F59E0B"/>
                </a:solidFill>
                <a:latin typeface="Segoe UI"/>
              </a:defRPr>
            </a:pPr>
            <a:r>
              <a:t>RabbitMQ Message Broker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AMQP protocol (port 5672)</a:t>
            </a:r>
            <a:br/>
            <a:r>
              <a:t>• Topic exchange: mars_events</a:t>
            </a:r>
            <a:br/>
            <a:r>
              <a:t>• Event-driven pub/sub architecture</a:t>
            </a:r>
            <a:br/>
            <a:r>
              <a:t>• Durable queues with TTL</a:t>
            </a:r>
            <a:br/>
            <a:r>
              <a:t>• Management UI on port 15672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21031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t>PostgreSQL Database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PostgreSQL 16 (port 5433)</a:t>
            </a:r>
            <a:br/>
            <a:r>
              <a:t>• automation_rules table</a:t>
            </a:r>
            <a:br/>
            <a:r>
              <a:t>• sensor_readings history</a:t>
            </a:r>
            <a:br/>
            <a:r>
              <a:t>• actuator_commands audit</a:t>
            </a:r>
            <a:br/>
            <a:r>
              <a:t>• Persistent volume storage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698480" cy="22860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Unified Event Schema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FFFFFF"/>
                </a:solidFill>
                <a:latin typeface="Segoe UI"/>
              </a:defRPr>
            </a:pPr>
            <a:r>
              <a:t>{ event_id, sensor_id, timestamp, metric, value, unit, source, status, raw_schema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749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All sensor data normalized to a single format • REST polls + SSE streams → unified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7/22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Ingestion Service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REST Sensors (Polling)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greenhouse_temperature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entrance_humidity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054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co2_hall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980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hydroponic_ph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9067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water_tank_level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79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corridor_pressure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7588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air_quality_pm25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6849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air_quality_voc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8B5CF6"/>
                </a:solidFill>
                <a:latin typeface="Segoe UI"/>
              </a:defRPr>
            </a:pPr>
            <a:r>
              <a:t>Telemetry Streams (SSE)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9202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solar_array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0545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life_support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9806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thermal_loop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090671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power_bus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33832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power_consumption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7588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airlock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80560"/>
            <a:ext cx="10698480" cy="16459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Normalization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8 different REST schemas + 7 telemetry schemas → Single unified event format</a:t>
            </a:r>
            <a:br/>
            <a:r>
              <a:t>Published to RabbitMQ with routing key: events.sensor.{sensor_id}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8/22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Automation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00D4FF"/>
                </a:solidFill>
                <a:latin typeface="Segoe UI"/>
              </a:defRPr>
            </a:pPr>
            <a:r>
              <a:t>Event-Driven Rule Processing</a:t>
            </a:r>
          </a:p>
        </p:txBody>
      </p:sp>
      <p:sp>
        <p:nvSpPr>
          <p:cNvPr id="6" name="Oval 5"/>
          <p:cNvSpPr/>
          <p:nvPr/>
        </p:nvSpPr>
        <p:spPr>
          <a:xfrm>
            <a:off x="1051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Receive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RabbitMQ</a:t>
            </a:r>
            <a:br/>
            <a:r>
              <a:t>event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23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37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Parse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Extract</a:t>
            </a:r>
            <a:br/>
            <a:r>
              <a:t>sensor_id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09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623559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59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Find rules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95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909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09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Check</a:t>
            </a:r>
            <a:br/>
            <a:r>
              <a:t>condition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281160" y="2103120"/>
            <a:ext cx="365760" cy="228600"/>
          </a:xfrm>
          <a:prstGeom prst="rightArrow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195560" y="1920240"/>
            <a:ext cx="548640" cy="54864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95560" y="1965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A0A0A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560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Execute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926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Publish</a:t>
            </a:r>
            <a:br/>
            <a:r>
              <a:t>command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931920"/>
            <a:ext cx="10698480" cy="21945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1148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IF-THEN Rule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720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FFFFFF"/>
                </a:solidFill>
                <a:latin typeface="Segoe UI"/>
              </a:defRPr>
            </a:pPr>
            <a:r>
              <a:t>IF &lt;sensor_id&gt; &lt;operator&gt; &lt;value&gt; THEN set &lt;actuator_id&gt; to ON | 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Operators:  &lt;   &lt;=   =   &gt;   &gt;=   •   Example: IF greenhouse_temperature &gt; 28 THEN set cooling_fan to 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9/22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Frontend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18 +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 Build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 for 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37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Radix UI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Application Pages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7373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REST sensors dashboard with real-time updates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148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48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Streaming data visualization with charts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603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560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Device control and command history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971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Rule Builder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Create and edit automation rules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338328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383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List, enable/disable, delete rules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794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System health and notification log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18288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Real-Time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9377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Server-Sent Events (SSE) for live notifications  •  Aggressive polling for sensor updates</a:t>
            </a:r>
            <a:br/>
            <a:r>
              <a:t>React state management for instant UI feedback  •  Recharts for live data visualization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10/22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Sensors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Real-time REST sensor monitoring with status indicators</a:t>
            </a:r>
          </a:p>
        </p:txBody>
      </p:sp>
      <p:pic>
        <p:nvPicPr>
          <p:cNvPr id="6" name="Picture 5" descr="01 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5571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11/22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Telemetry Streaming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SSE-powered live data visualization</a:t>
            </a:r>
          </a:p>
        </p:txBody>
      </p:sp>
      <p:pic>
        <p:nvPicPr>
          <p:cNvPr id="6" name="Picture 5" descr="02 Tele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5571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12/22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Actuator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Manual control and command history audit trail</a:t>
            </a:r>
          </a:p>
        </p:txBody>
      </p:sp>
      <p:pic>
        <p:nvPicPr>
          <p:cNvPr id="6" name="Picture 5" descr="03 Actu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55571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13/22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Rule Builder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Create IF-THEN automation rules visually</a:t>
            </a:r>
          </a:p>
        </p:txBody>
      </p:sp>
      <p:pic>
        <p:nvPicPr>
          <p:cNvPr id="6" name="Picture 5" descr="04 rule 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5959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14/22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Rules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603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List, toggle, edit, and delete automation rules</a:t>
            </a:r>
          </a:p>
        </p:txBody>
      </p:sp>
      <p:pic>
        <p:nvPicPr>
          <p:cNvPr id="6" name="Picture 5" descr="05 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686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15/22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FFFFFF"/>
                </a:solidFill>
                <a:latin typeface="Segoe UI"/>
              </a:defRPr>
            </a:pPr>
            <a:r>
              <a:t>System Status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777240"/>
            <a:ext cx="91440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0" y="274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Health monitoring and notification center</a:t>
            </a:r>
          </a:p>
        </p:txBody>
      </p:sp>
      <p:pic>
        <p:nvPicPr>
          <p:cNvPr id="6" name="Picture 5" descr="06 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6689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16/22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Database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automation_rules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3108960" cy="1828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(SERIAL PK)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name, description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sensor_id,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threshold_value, threshold_unit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actuator_id, actuator_action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is_active (BOOLEAN)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created_at, updated_at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sensor_readings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2103120"/>
            <a:ext cx="3108960" cy="182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59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59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sensor_id (VARCHAR)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59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value (DECIMAL)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59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unit (VARCHAR)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59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(rest/stream)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recorded_at (TIMESTAMP)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created_at (TIMESTAMP)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371600"/>
            <a:ext cx="3657600" cy="493776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59" y="15544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actuator_commands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2103120"/>
            <a:ext cx="3108960" cy="182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2860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id (BIGSERIAL PK)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63347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actuator_id (VARCHAR)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98094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previous_state, new_state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3284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source (auto/manual)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reason (TEXT)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0233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rule_id (FK)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37083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executed_at (TIMESTAMP)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17/22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Data 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IoT Simulator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REST API</a:t>
            </a:r>
            <a:br/>
            <a:r>
              <a:t>SSE Streams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6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00D4FF"/>
                </a:solidFill>
                <a:latin typeface="Segoe UI"/>
              </a:defRPr>
            </a:pPr>
            <a: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Normalize</a:t>
            </a:r>
            <a:br/>
            <a:r>
              <a:t>Events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92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20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F59E0B"/>
                </a:solidFill>
                <a:latin typeface="Segoe UI"/>
              </a:defRPr>
            </a:pPr>
            <a:r>
              <a:t>RabbitMQ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79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Route</a:t>
            </a:r>
            <a:br/>
            <a:r>
              <a:t>Events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178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8B5CF6"/>
                </a:solidFill>
                <a:latin typeface="Segoe UI"/>
              </a:defRPr>
            </a:pPr>
            <a:r>
              <a:t>Consumers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Process &amp;</a:t>
            </a:r>
            <a:br/>
            <a:r>
              <a:t>Store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64040" y="2880360"/>
            <a:ext cx="27432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92640" y="2286000"/>
            <a:ext cx="2011680" cy="146304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46887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0B981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310896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Display &amp;</a:t>
            </a:r>
            <a:br/>
            <a: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463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Event Routing Keys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49240"/>
            <a:ext cx="54864" cy="3657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Sensor Events: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events.sensor.{sensor_id}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5349240"/>
            <a:ext cx="54864" cy="365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262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Actuator Commands: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commands.actuator.{actuator_id}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5349240"/>
            <a:ext cx="54864" cy="3657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8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Notifications: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80" y="5669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events.#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18/22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Backend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Python 3.11+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FastAPI (Async)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aio-pika (RabbitMQ)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asyncpg + SQLAlchemy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httpx (HTTP Client)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Pydantic (Validation)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Uvicorn (ASGI)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Frontend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Vite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React Router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Tailwind CSS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402335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Recharts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389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Radix 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0" y="1371600"/>
            <a:ext cx="3474720" cy="484632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5544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t>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1945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PostgreSQL 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2560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RabbitMQ (AMQP)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92607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2918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Docker Compose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65759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• Nginx (Reverse Proxy)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297680"/>
            <a:ext cx="3108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Containerized</a:t>
            </a:r>
            <a:br/>
            <a:r>
              <a:t>Microservices</a:t>
            </a:r>
            <a:br/>
            <a:r>
              <a:t>with</a:t>
            </a:r>
            <a:br/>
            <a:r>
              <a:t>Event-Driven</a:t>
            </a:r>
            <a:br/>
            <a:r>
              <a:t>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19/22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Key User Stories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09728" cy="4572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265176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00D4FF"/>
                </a:solidFill>
                <a:latin typeface="Segoe UI"/>
              </a:defRPr>
            </a:pPr>
            <a: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sensor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telemetry from 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dashboard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Status indicators (ok/warning)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Sensor filtering by category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280160"/>
            <a:ext cx="265176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actuator ON/OFF states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Manual actuator toggle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Automatic rule-based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Command history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1280160"/>
            <a:ext cx="26517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Create IF-THEN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View all automation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Edit existing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Delete/enable/disable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4805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Real-time trigger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1280160"/>
            <a:ext cx="2651760" cy="5029200"/>
          </a:xfrm>
          <a:prstGeom prst="roundRect">
            <a:avLst/>
          </a:prstGeom>
          <a:solidFill>
            <a:srgbClr val="1E1E2E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35440" y="1280160"/>
            <a:ext cx="26517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14630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F59E0B"/>
                </a:solidFill>
                <a:latin typeface="Segoe UI"/>
              </a:defRPr>
            </a:pPr>
            <a:r>
              <a:t>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21031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Live time charts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69747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Historical data queries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3291839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System health summary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388620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9494B0"/>
                </a:solidFill>
                <a:latin typeface="Segoe UI"/>
              </a:defRPr>
            </a:pPr>
            <a:r>
              <a:t>• Connectivity 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20/22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 i="0">
                <a:solidFill>
                  <a:srgbClr val="FFFFFF"/>
                </a:solidFill>
                <a:latin typeface="Segoe UI"/>
              </a:defRPr>
            </a:pPr>
            <a: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9728" cy="5486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0B981"/>
                </a:solidFill>
                <a:latin typeface="Segoe UI"/>
              </a:defRPr>
            </a:pPr>
            <a:r>
              <a:t>Project Achievements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30428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Distributed microservices architecture with event-driven communication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74320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6334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Real-time monitoring and control of simulated Mars habitat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182112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72384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IF-THEN automation rules with automatic actuator control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621024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11296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Modern React dashboard with SSE-based live updates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4059936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5020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Containerized deployment with Docker Compose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498848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9494B0"/>
                </a:solidFill>
                <a:latin typeface="Segoe UI"/>
              </a:defRPr>
            </a:pPr>
            <a:r>
              <a:t>Unified event schema for heterogeneous data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8B5CF6"/>
                </a:solidFill>
                <a:latin typeface="Segoe UI"/>
              </a:defRPr>
            </a:pPr>
            <a:r>
              <a:t>Future Enhancements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94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Machine Learning: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394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Predictive maintenance and anomaly detection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Mobile App: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7607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Remote monitoring and push notifications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Segoe UI"/>
              </a:defRPr>
            </a:pPr>
            <a:r>
              <a:t>→ Advanced Alerting: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6126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6B6B80"/>
                </a:solidFill>
                <a:latin typeface="Segoe UI"/>
              </a:defRPr>
            </a:pPr>
            <a:r>
              <a:t>Email/SMS notifications for critical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21/22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 i="0">
                <a:solidFill>
                  <a:srgbClr val="FFFFFF"/>
                </a:solidFill>
                <a:latin typeface="Segoe UI Light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 i="0">
                <a:solidFill>
                  <a:srgbClr val="00D4FF"/>
                </a:solidFill>
                <a:latin typeface="Segoe UI"/>
              </a:defRPr>
            </a:pPr>
            <a: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114800"/>
            <a:ext cx="21031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494B0"/>
                </a:solidFill>
                <a:latin typeface="Segoe UI"/>
              </a:defRPr>
            </a:pPr>
            <a:r>
              <a:t>Deda Daniel  •  Macrì Francesco  •  Pagliarini Paolo  •  Torresi Flavio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6B6B80"/>
                </a:solidFill>
                <a:latin typeface="Segoe UI"/>
              </a:defRPr>
            </a:pPr>
            <a:r>
              <a:t>Laboratory of Advanced Programming – Hackathon Exam 2024/2025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309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 i="0">
                <a:solidFill>
                  <a:srgbClr val="6B6B80"/>
                </a:solidFill>
                <a:latin typeface="Segoe UI"/>
              </a:defRPr>
            </a:pPr>
            <a:r>
              <a:t>22/22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